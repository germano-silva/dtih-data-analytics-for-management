
<file path=[Content_Types].xml><?xml version="1.0" encoding="utf-8"?>
<Types xmlns="http://schemas.openxmlformats.org/package/2006/content-types">
  <Default Extension="bin" ContentType="image/unknown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90" d="100"/>
          <a:sy n="90" d="100"/>
        </p:scale>
        <p:origin x="816" y="-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530176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bin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bin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bin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bin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bin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bin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bin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bin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bin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bin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000875" y="3000375"/>
            <a:ext cx="2857500" cy="2857500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1"/>
          <p:cNvSpPr/>
          <p:nvPr/>
        </p:nvSpPr>
        <p:spPr>
          <a:xfrm>
            <a:off x="-571500" y="-571500"/>
            <a:ext cx="2143125" cy="2143125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2"/>
          <p:cNvSpPr/>
          <p:nvPr/>
        </p:nvSpPr>
        <p:spPr>
          <a:xfrm>
            <a:off x="1357313" y="934436"/>
            <a:ext cx="6429375" cy="16458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Estratégia de Posicionamento da hCaptcha na Europa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1357313" y="2723164"/>
            <a:ext cx="6429375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>
                    <a:alpha val="95000"/>
                  </a:srgbClr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Uma Análise de Dados para o Crescimento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357313" y="3494689"/>
            <a:ext cx="642937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046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Germano Silva</a:t>
            </a:r>
            <a:endParaRPr lang="en-US" sz="1046" dirty="0"/>
          </a:p>
        </p:txBody>
      </p:sp>
      <p:sp>
        <p:nvSpPr>
          <p:cNvPr id="8" name="Text 5"/>
          <p:cNvSpPr/>
          <p:nvPr/>
        </p:nvSpPr>
        <p:spPr>
          <a:xfrm>
            <a:off x="1357313" y="3780439"/>
            <a:ext cx="642937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837" dirty="0">
                <a:solidFill>
                  <a:srgbClr val="FFFFFF">
                    <a:alpha val="85000"/>
                  </a:srgbClr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Prepara Portugal</a:t>
            </a:r>
            <a:endParaRPr lang="en-US" sz="837" dirty="0"/>
          </a:p>
        </p:txBody>
      </p:sp>
      <p:sp>
        <p:nvSpPr>
          <p:cNvPr id="9" name="Text 6"/>
          <p:cNvSpPr/>
          <p:nvPr/>
        </p:nvSpPr>
        <p:spPr>
          <a:xfrm>
            <a:off x="1357313" y="4059045"/>
            <a:ext cx="6429375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732" i="1" dirty="0">
                <a:solidFill>
                  <a:srgbClr val="FFFFFF">
                    <a:alpha val="80000"/>
                  </a:srgbClr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Responsável Acadêmico: Professor Pedro Scope</a:t>
            </a:r>
            <a:endParaRPr lang="en-US" sz="732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28625"/>
            <a:ext cx="828675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52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Nosso Caminho Analítico: Da Limpeza aos Insights</a:t>
            </a:r>
            <a:endParaRPr lang="en-US" sz="1800" dirty="0"/>
          </a:p>
        </p:txBody>
      </p:sp>
      <p:sp>
        <p:nvSpPr>
          <p:cNvPr id="4" name="Shape 1"/>
          <p:cNvSpPr/>
          <p:nvPr/>
        </p:nvSpPr>
        <p:spPr>
          <a:xfrm>
            <a:off x="1452553" y="1128713"/>
            <a:ext cx="571500" cy="571500"/>
          </a:xfrm>
          <a:prstGeom prst="ellipse">
            <a:avLst/>
          </a:prstGeom>
          <a:solidFill>
            <a:srgbClr val="1E88E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2"/>
          <p:cNvSpPr/>
          <p:nvPr/>
        </p:nvSpPr>
        <p:spPr>
          <a:xfrm>
            <a:off x="1452553" y="1128713"/>
            <a:ext cx="5715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225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</a:t>
            </a:r>
            <a:endParaRPr lang="en-US" sz="2250" dirty="0"/>
          </a:p>
        </p:txBody>
      </p:sp>
      <p:sp>
        <p:nvSpPr>
          <p:cNvPr id="6" name="Text 3"/>
          <p:cNvSpPr/>
          <p:nvPr/>
        </p:nvSpPr>
        <p:spPr>
          <a:xfrm>
            <a:off x="1095682" y="1843088"/>
            <a:ext cx="1285177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046" b="1" dirty="0">
                <a:solidFill>
                  <a:srgbClr val="0052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Limpeza de Dados</a:t>
            </a:r>
            <a:endParaRPr lang="en-US" sz="1046" dirty="0"/>
          </a:p>
        </p:txBody>
      </p:sp>
      <p:sp>
        <p:nvSpPr>
          <p:cNvPr id="7" name="Text 4"/>
          <p:cNvSpPr/>
          <p:nvPr/>
        </p:nvSpPr>
        <p:spPr>
          <a:xfrm>
            <a:off x="428625" y="2164556"/>
            <a:ext cx="2619384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Preparação e validação da base de dados, tratamento de valores nulos e inconsistências.</a:t>
            </a:r>
            <a:endParaRPr lang="en-US" sz="837" dirty="0"/>
          </a:p>
        </p:txBody>
      </p:sp>
      <p:sp>
        <p:nvSpPr>
          <p:cNvPr id="8" name="Text 5"/>
          <p:cNvSpPr/>
          <p:nvPr/>
        </p:nvSpPr>
        <p:spPr>
          <a:xfrm>
            <a:off x="1738271" y="2981228"/>
            <a:ext cx="64" cy="25975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endParaRPr lang="en-US" sz="1688" dirty="0"/>
          </a:p>
        </p:txBody>
      </p:sp>
      <p:sp>
        <p:nvSpPr>
          <p:cNvPr id="9" name="Shape 6"/>
          <p:cNvSpPr/>
          <p:nvPr/>
        </p:nvSpPr>
        <p:spPr>
          <a:xfrm>
            <a:off x="4286250" y="1128713"/>
            <a:ext cx="571500" cy="571500"/>
          </a:xfrm>
          <a:prstGeom prst="ellipse">
            <a:avLst/>
          </a:prstGeom>
          <a:solidFill>
            <a:srgbClr val="1E88E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7"/>
          <p:cNvSpPr/>
          <p:nvPr/>
        </p:nvSpPr>
        <p:spPr>
          <a:xfrm>
            <a:off x="4286250" y="1128713"/>
            <a:ext cx="5715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225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</a:t>
            </a:r>
            <a:endParaRPr lang="en-US" sz="2250" dirty="0"/>
          </a:p>
        </p:txBody>
      </p:sp>
      <p:sp>
        <p:nvSpPr>
          <p:cNvPr id="11" name="Text 8"/>
          <p:cNvSpPr/>
          <p:nvPr/>
        </p:nvSpPr>
        <p:spPr>
          <a:xfrm>
            <a:off x="3804912" y="1843088"/>
            <a:ext cx="1534204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046" b="1" dirty="0">
                <a:solidFill>
                  <a:srgbClr val="0052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Modelagem de Dados</a:t>
            </a:r>
            <a:endParaRPr lang="en-US" sz="1046" dirty="0"/>
          </a:p>
        </p:txBody>
      </p:sp>
      <p:sp>
        <p:nvSpPr>
          <p:cNvPr id="12" name="Text 9"/>
          <p:cNvSpPr/>
          <p:nvPr/>
        </p:nvSpPr>
        <p:spPr>
          <a:xfrm>
            <a:off x="3262322" y="2164556"/>
            <a:ext cx="2619384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Enriquecimento e estruturação dos dados para análise, criação de novas variáveis.</a:t>
            </a:r>
            <a:endParaRPr lang="en-US" sz="837" dirty="0"/>
          </a:p>
        </p:txBody>
      </p:sp>
      <p:sp>
        <p:nvSpPr>
          <p:cNvPr id="13" name="Text 10"/>
          <p:cNvSpPr/>
          <p:nvPr/>
        </p:nvSpPr>
        <p:spPr>
          <a:xfrm>
            <a:off x="4571968" y="2981228"/>
            <a:ext cx="64" cy="25975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endParaRPr lang="en-US" sz="1688" dirty="0"/>
          </a:p>
        </p:txBody>
      </p:sp>
      <p:sp>
        <p:nvSpPr>
          <p:cNvPr id="14" name="Shape 11"/>
          <p:cNvSpPr/>
          <p:nvPr/>
        </p:nvSpPr>
        <p:spPr>
          <a:xfrm>
            <a:off x="7119947" y="1128713"/>
            <a:ext cx="571500" cy="571500"/>
          </a:xfrm>
          <a:prstGeom prst="ellipse">
            <a:avLst/>
          </a:prstGeom>
          <a:solidFill>
            <a:srgbClr val="1E88E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2"/>
          <p:cNvSpPr/>
          <p:nvPr/>
        </p:nvSpPr>
        <p:spPr>
          <a:xfrm>
            <a:off x="7119947" y="1128713"/>
            <a:ext cx="5715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225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</a:t>
            </a:r>
            <a:endParaRPr lang="en-US" sz="2250" dirty="0"/>
          </a:p>
        </p:txBody>
      </p:sp>
      <p:sp>
        <p:nvSpPr>
          <p:cNvPr id="16" name="Text 13"/>
          <p:cNvSpPr/>
          <p:nvPr/>
        </p:nvSpPr>
        <p:spPr>
          <a:xfrm>
            <a:off x="6569515" y="1843088"/>
            <a:ext cx="167236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046" b="1" dirty="0">
                <a:solidFill>
                  <a:srgbClr val="0052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Apresentação de Dados</a:t>
            </a:r>
            <a:endParaRPr lang="en-US" sz="1046" dirty="0"/>
          </a:p>
        </p:txBody>
      </p:sp>
      <p:sp>
        <p:nvSpPr>
          <p:cNvPr id="17" name="Text 14"/>
          <p:cNvSpPr/>
          <p:nvPr/>
        </p:nvSpPr>
        <p:spPr>
          <a:xfrm>
            <a:off x="6096019" y="2164556"/>
            <a:ext cx="2619384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Visualização e extração de insights estratégicos para decisão de negócio.</a:t>
            </a:r>
            <a:endParaRPr lang="en-US" sz="837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28625"/>
            <a:ext cx="828675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052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Limpeza de Dados: Superando Inconsistências para a Confiabilidade</a:t>
            </a:r>
            <a:endParaRPr lang="en-US" sz="1800" dirty="0"/>
          </a:p>
        </p:txBody>
      </p:sp>
      <p:sp>
        <p:nvSpPr>
          <p:cNvPr id="4" name="Shape 1"/>
          <p:cNvSpPr/>
          <p:nvPr/>
        </p:nvSpPr>
        <p:spPr>
          <a:xfrm>
            <a:off x="428625" y="985838"/>
            <a:ext cx="2571750" cy="878681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Shape 2"/>
          <p:cNvSpPr/>
          <p:nvPr/>
        </p:nvSpPr>
        <p:spPr>
          <a:xfrm>
            <a:off x="428625" y="985838"/>
            <a:ext cx="28575" cy="878681"/>
          </a:xfrm>
          <a:prstGeom prst="rect">
            <a:avLst/>
          </a:prstGeom>
          <a:solidFill>
            <a:srgbClr val="1E88E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3"/>
          <p:cNvSpPr/>
          <p:nvPr/>
        </p:nvSpPr>
        <p:spPr>
          <a:xfrm>
            <a:off x="571500" y="1128713"/>
            <a:ext cx="2266941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025" b="1" dirty="0">
                <a:solidFill>
                  <a:srgbClr val="0052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1028</a:t>
            </a:r>
            <a:endParaRPr lang="en-US" sz="2025" dirty="0"/>
          </a:p>
        </p:txBody>
      </p:sp>
      <p:sp>
        <p:nvSpPr>
          <p:cNvPr id="7" name="Text 4"/>
          <p:cNvSpPr/>
          <p:nvPr/>
        </p:nvSpPr>
        <p:spPr>
          <a:xfrm>
            <a:off x="571500" y="1571625"/>
            <a:ext cx="226694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6666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Registros (Profissionais)</a:t>
            </a:r>
            <a:endParaRPr lang="en-US" sz="732" dirty="0"/>
          </a:p>
        </p:txBody>
      </p:sp>
      <p:sp>
        <p:nvSpPr>
          <p:cNvPr id="8" name="Shape 5"/>
          <p:cNvSpPr/>
          <p:nvPr/>
        </p:nvSpPr>
        <p:spPr>
          <a:xfrm>
            <a:off x="3267066" y="985838"/>
            <a:ext cx="2581266" cy="878681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Shape 6"/>
          <p:cNvSpPr/>
          <p:nvPr/>
        </p:nvSpPr>
        <p:spPr>
          <a:xfrm>
            <a:off x="3267066" y="985838"/>
            <a:ext cx="28575" cy="878681"/>
          </a:xfrm>
          <a:prstGeom prst="rect">
            <a:avLst/>
          </a:prstGeom>
          <a:solidFill>
            <a:srgbClr val="1E88E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7"/>
          <p:cNvSpPr/>
          <p:nvPr/>
        </p:nvSpPr>
        <p:spPr>
          <a:xfrm>
            <a:off x="3419484" y="1128713"/>
            <a:ext cx="2276484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025" b="1" dirty="0">
                <a:solidFill>
                  <a:srgbClr val="0052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24</a:t>
            </a:r>
            <a:endParaRPr lang="en-US" sz="2025" dirty="0"/>
          </a:p>
        </p:txBody>
      </p:sp>
      <p:sp>
        <p:nvSpPr>
          <p:cNvPr id="11" name="Text 8"/>
          <p:cNvSpPr/>
          <p:nvPr/>
        </p:nvSpPr>
        <p:spPr>
          <a:xfrm>
            <a:off x="3419484" y="1571625"/>
            <a:ext cx="2276484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6666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Colunas (Atributos)</a:t>
            </a:r>
            <a:endParaRPr lang="en-US" sz="732" dirty="0"/>
          </a:p>
        </p:txBody>
      </p:sp>
      <p:sp>
        <p:nvSpPr>
          <p:cNvPr id="12" name="Shape 9"/>
          <p:cNvSpPr/>
          <p:nvPr/>
        </p:nvSpPr>
        <p:spPr>
          <a:xfrm>
            <a:off x="6124594" y="985838"/>
            <a:ext cx="2590809" cy="878681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Shape 10"/>
          <p:cNvSpPr/>
          <p:nvPr/>
        </p:nvSpPr>
        <p:spPr>
          <a:xfrm>
            <a:off x="6124594" y="985838"/>
            <a:ext cx="28575" cy="878681"/>
          </a:xfrm>
          <a:prstGeom prst="rect">
            <a:avLst/>
          </a:prstGeom>
          <a:solidFill>
            <a:srgbClr val="1E88E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1"/>
          <p:cNvSpPr/>
          <p:nvPr/>
        </p:nvSpPr>
        <p:spPr>
          <a:xfrm>
            <a:off x="6286500" y="1128713"/>
            <a:ext cx="22860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025" b="1" dirty="0">
                <a:solidFill>
                  <a:srgbClr val="0052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54,17%</a:t>
            </a:r>
            <a:endParaRPr lang="en-US" sz="2025" dirty="0"/>
          </a:p>
        </p:txBody>
      </p:sp>
      <p:sp>
        <p:nvSpPr>
          <p:cNvPr id="15" name="Text 12"/>
          <p:cNvSpPr/>
          <p:nvPr/>
        </p:nvSpPr>
        <p:spPr>
          <a:xfrm>
            <a:off x="6286500" y="1571625"/>
            <a:ext cx="228600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6666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Células Vazias</a:t>
            </a:r>
            <a:endParaRPr lang="en-US" sz="732" dirty="0"/>
          </a:p>
        </p:txBody>
      </p:sp>
      <p:sp>
        <p:nvSpPr>
          <p:cNvPr id="16" name="Text 13"/>
          <p:cNvSpPr/>
          <p:nvPr/>
        </p:nvSpPr>
        <p:spPr>
          <a:xfrm>
            <a:off x="428625" y="2150269"/>
            <a:ext cx="8286750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b="1" dirty="0">
                <a:solidFill>
                  <a:srgbClr val="0052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Principais Desafios Identificados:</a:t>
            </a:r>
            <a:endParaRPr lang="en-US" sz="942" dirty="0"/>
          </a:p>
        </p:txBody>
      </p:sp>
      <p:sp>
        <p:nvSpPr>
          <p:cNvPr id="17" name="Text 14"/>
          <p:cNvSpPr/>
          <p:nvPr/>
        </p:nvSpPr>
        <p:spPr>
          <a:xfrm>
            <a:off x="592931" y="2486025"/>
            <a:ext cx="812244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5" b="1" dirty="0">
                <a:solidFill>
                  <a:srgbClr val="0052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Valores Nulos</a:t>
            </a:r>
            <a:endParaRPr lang="en-US" sz="785" dirty="0"/>
          </a:p>
        </p:txBody>
      </p:sp>
      <p:sp>
        <p:nvSpPr>
          <p:cNvPr id="18" name="Text 15"/>
          <p:cNvSpPr/>
          <p:nvPr/>
        </p:nvSpPr>
        <p:spPr>
          <a:xfrm>
            <a:off x="592931" y="2703909"/>
            <a:ext cx="104675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6666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Colunas críticas como </a:t>
            </a:r>
            <a:endParaRPr lang="en-US" sz="732" dirty="0"/>
          </a:p>
        </p:txBody>
      </p:sp>
      <p:sp>
        <p:nvSpPr>
          <p:cNvPr id="19" name="Text 16"/>
          <p:cNvSpPr/>
          <p:nvPr/>
        </p:nvSpPr>
        <p:spPr>
          <a:xfrm>
            <a:off x="1639686" y="2703909"/>
            <a:ext cx="33475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b="1" dirty="0">
                <a:solidFill>
                  <a:srgbClr val="0052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Estado</a:t>
            </a:r>
            <a:endParaRPr lang="en-US" sz="732" dirty="0"/>
          </a:p>
        </p:txBody>
      </p:sp>
      <p:sp>
        <p:nvSpPr>
          <p:cNvPr id="20" name="Text 17"/>
          <p:cNvSpPr/>
          <p:nvPr/>
        </p:nvSpPr>
        <p:spPr>
          <a:xfrm>
            <a:off x="1974438" y="2703909"/>
            <a:ext cx="5282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6666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, </a:t>
            </a:r>
            <a:endParaRPr lang="en-US" sz="732" dirty="0"/>
          </a:p>
        </p:txBody>
      </p:sp>
      <p:sp>
        <p:nvSpPr>
          <p:cNvPr id="21" name="Text 18"/>
          <p:cNvSpPr/>
          <p:nvPr/>
        </p:nvSpPr>
        <p:spPr>
          <a:xfrm>
            <a:off x="2027262" y="2703909"/>
            <a:ext cx="42505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b="1" dirty="0">
                <a:solidFill>
                  <a:srgbClr val="0052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Telefone</a:t>
            </a:r>
            <a:endParaRPr lang="en-US" sz="732" dirty="0"/>
          </a:p>
        </p:txBody>
      </p:sp>
      <p:sp>
        <p:nvSpPr>
          <p:cNvPr id="22" name="Text 19"/>
          <p:cNvSpPr/>
          <p:nvPr/>
        </p:nvSpPr>
        <p:spPr>
          <a:xfrm>
            <a:off x="2452315" y="2703909"/>
            <a:ext cx="10844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6666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e </a:t>
            </a:r>
            <a:endParaRPr lang="en-US" sz="732" dirty="0"/>
          </a:p>
        </p:txBody>
      </p:sp>
      <p:sp>
        <p:nvSpPr>
          <p:cNvPr id="23" name="Text 20"/>
          <p:cNvSpPr/>
          <p:nvPr/>
        </p:nvSpPr>
        <p:spPr>
          <a:xfrm>
            <a:off x="2560755" y="2703909"/>
            <a:ext cx="837409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b="1" dirty="0">
                <a:solidFill>
                  <a:srgbClr val="0052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Telefone da Sede</a:t>
            </a:r>
            <a:endParaRPr lang="en-US" sz="732" dirty="0"/>
          </a:p>
        </p:txBody>
      </p:sp>
      <p:sp>
        <p:nvSpPr>
          <p:cNvPr id="24" name="Text 21"/>
          <p:cNvSpPr/>
          <p:nvPr/>
        </p:nvSpPr>
        <p:spPr>
          <a:xfrm>
            <a:off x="3398165" y="2703909"/>
            <a:ext cx="149279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6666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com 100% de valores ausentes.</a:t>
            </a:r>
            <a:endParaRPr lang="en-US" sz="732" dirty="0"/>
          </a:p>
        </p:txBody>
      </p:sp>
      <p:sp>
        <p:nvSpPr>
          <p:cNvPr id="25" name="Text 22"/>
          <p:cNvSpPr/>
          <p:nvPr/>
        </p:nvSpPr>
        <p:spPr>
          <a:xfrm>
            <a:off x="592931" y="2981790"/>
            <a:ext cx="812244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5" b="1" dirty="0">
                <a:solidFill>
                  <a:srgbClr val="0052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Inconsistências de Classificação</a:t>
            </a:r>
            <a:endParaRPr lang="en-US" sz="785" dirty="0"/>
          </a:p>
        </p:txBody>
      </p:sp>
      <p:sp>
        <p:nvSpPr>
          <p:cNvPr id="26" name="Text 23"/>
          <p:cNvSpPr/>
          <p:nvPr/>
        </p:nvSpPr>
        <p:spPr>
          <a:xfrm>
            <a:off x="592931" y="3188959"/>
            <a:ext cx="8122444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6666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Status do e-mail não padronizado; e-mails pessoais classificados como válidos; domínios corporativos com status inconsistente.</a:t>
            </a:r>
            <a:endParaRPr lang="en-US" sz="732" dirty="0"/>
          </a:p>
        </p:txBody>
      </p:sp>
      <p:sp>
        <p:nvSpPr>
          <p:cNvPr id="27" name="Text 24"/>
          <p:cNvSpPr/>
          <p:nvPr/>
        </p:nvSpPr>
        <p:spPr>
          <a:xfrm>
            <a:off x="592931" y="3477555"/>
            <a:ext cx="812244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5" b="1" dirty="0">
                <a:solidFill>
                  <a:srgbClr val="0052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Redundância de Dados</a:t>
            </a:r>
            <a:endParaRPr lang="en-US" sz="785" dirty="0"/>
          </a:p>
        </p:txBody>
      </p:sp>
      <p:sp>
        <p:nvSpPr>
          <p:cNvPr id="28" name="Text 25"/>
          <p:cNvSpPr/>
          <p:nvPr/>
        </p:nvSpPr>
        <p:spPr>
          <a:xfrm>
            <a:off x="592931" y="3684724"/>
            <a:ext cx="8122444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6666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Colunas sobrepostas (Nome, Sobrenome, Nome Completo) e duplicidade em redes sociais.</a:t>
            </a:r>
            <a:endParaRPr lang="en-US" sz="732" dirty="0"/>
          </a:p>
        </p:txBody>
      </p:sp>
      <p:sp>
        <p:nvSpPr>
          <p:cNvPr id="29" name="Text 26"/>
          <p:cNvSpPr/>
          <p:nvPr/>
        </p:nvSpPr>
        <p:spPr>
          <a:xfrm>
            <a:off x="592931" y="3973320"/>
            <a:ext cx="812244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5" b="1" dirty="0">
                <a:solidFill>
                  <a:srgbClr val="0052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Falta de Padronização</a:t>
            </a:r>
            <a:endParaRPr lang="en-US" sz="785" dirty="0"/>
          </a:p>
        </p:txBody>
      </p:sp>
      <p:sp>
        <p:nvSpPr>
          <p:cNvPr id="30" name="Text 27"/>
          <p:cNvSpPr/>
          <p:nvPr/>
        </p:nvSpPr>
        <p:spPr>
          <a:xfrm>
            <a:off x="592931" y="4191205"/>
            <a:ext cx="35526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6666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Coluna </a:t>
            </a:r>
            <a:endParaRPr lang="en-US" sz="732" dirty="0"/>
          </a:p>
        </p:txBody>
      </p:sp>
      <p:sp>
        <p:nvSpPr>
          <p:cNvPr id="31" name="Text 28"/>
          <p:cNvSpPr/>
          <p:nvPr/>
        </p:nvSpPr>
        <p:spPr>
          <a:xfrm>
            <a:off x="948193" y="4191205"/>
            <a:ext cx="106815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b="1" dirty="0">
                <a:solidFill>
                  <a:srgbClr val="0052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Tamanho da Empresa</a:t>
            </a:r>
            <a:endParaRPr lang="en-US" sz="732" dirty="0"/>
          </a:p>
        </p:txBody>
      </p:sp>
      <p:sp>
        <p:nvSpPr>
          <p:cNvPr id="32" name="Text 29"/>
          <p:cNvSpPr/>
          <p:nvPr/>
        </p:nvSpPr>
        <p:spPr>
          <a:xfrm>
            <a:off x="2016351" y="4191205"/>
            <a:ext cx="388299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6666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com formatos variados ("201-500" vs "10001+") dificultando análises quantitativas.</a:t>
            </a:r>
            <a:endParaRPr lang="en-US" sz="732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28625"/>
            <a:ext cx="828675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052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Limpeza de Dados: Estratégias para um Dataset Robusto</a:t>
            </a:r>
            <a:endParaRPr lang="en-US" sz="1800" dirty="0"/>
          </a:p>
        </p:txBody>
      </p:sp>
      <p:sp>
        <p:nvSpPr>
          <p:cNvPr id="4" name="Shape 1"/>
          <p:cNvSpPr/>
          <p:nvPr/>
        </p:nvSpPr>
        <p:spPr>
          <a:xfrm>
            <a:off x="428625" y="1021556"/>
            <a:ext cx="2643188" cy="3693319"/>
          </a:xfrm>
          <a:prstGeom prst="rect">
            <a:avLst/>
          </a:prstGeom>
          <a:solidFill>
            <a:srgbClr val="FFFFFF"/>
          </a:solidFill>
          <a:ln w="397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2"/>
          <p:cNvSpPr/>
          <p:nvPr/>
        </p:nvSpPr>
        <p:spPr>
          <a:xfrm>
            <a:off x="607219" y="1200150"/>
            <a:ext cx="22860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0052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Tratamento de E-mail</a:t>
            </a:r>
            <a:endParaRPr lang="en-US" sz="837" dirty="0"/>
          </a:p>
        </p:txBody>
      </p:sp>
      <p:sp>
        <p:nvSpPr>
          <p:cNvPr id="6" name="Text 3"/>
          <p:cNvSpPr/>
          <p:nvPr/>
        </p:nvSpPr>
        <p:spPr>
          <a:xfrm>
            <a:off x="607219" y="1478756"/>
            <a:ext cx="228600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b="1" dirty="0">
                <a:solidFill>
                  <a:srgbClr val="0052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Script Python</a:t>
            </a:r>
            <a:endParaRPr lang="en-US" sz="732" dirty="0"/>
          </a:p>
        </p:txBody>
      </p:sp>
      <p:sp>
        <p:nvSpPr>
          <p:cNvPr id="7" name="Text 4"/>
          <p:cNvSpPr/>
          <p:nvPr/>
        </p:nvSpPr>
        <p:spPr>
          <a:xfrm>
            <a:off x="607219" y="1664494"/>
            <a:ext cx="1588619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80" dirty="0">
                <a:solidFill>
                  <a:srgbClr val="6666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Extração e padronização do domínio</a:t>
            </a:r>
            <a:endParaRPr lang="en-US" sz="680" dirty="0"/>
          </a:p>
        </p:txBody>
      </p:sp>
      <p:sp>
        <p:nvSpPr>
          <p:cNvPr id="8" name="Text 5"/>
          <p:cNvSpPr/>
          <p:nvPr/>
        </p:nvSpPr>
        <p:spPr>
          <a:xfrm>
            <a:off x="607219" y="1885950"/>
            <a:ext cx="228600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b="1" dirty="0">
                <a:solidFill>
                  <a:srgbClr val="0052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Transformações</a:t>
            </a:r>
            <a:endParaRPr lang="en-US" sz="732" dirty="0"/>
          </a:p>
        </p:txBody>
      </p:sp>
      <p:sp>
        <p:nvSpPr>
          <p:cNvPr id="9" name="Text 6"/>
          <p:cNvSpPr/>
          <p:nvPr/>
        </p:nvSpPr>
        <p:spPr>
          <a:xfrm>
            <a:off x="607219" y="2071688"/>
            <a:ext cx="2143041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80" dirty="0">
                <a:solidFill>
                  <a:srgbClr val="6666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Conversão para minúsculas, remoção de prefixos </a:t>
            </a:r>
            <a:endParaRPr lang="en-US" sz="680" dirty="0"/>
          </a:p>
        </p:txBody>
      </p:sp>
      <p:sp>
        <p:nvSpPr>
          <p:cNvPr id="10" name="Text 7"/>
          <p:cNvSpPr/>
          <p:nvPr/>
        </p:nvSpPr>
        <p:spPr>
          <a:xfrm>
            <a:off x="607219" y="2221706"/>
            <a:ext cx="776687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80" dirty="0">
                <a:solidFill>
                  <a:srgbClr val="6666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(www, http, https)</a:t>
            </a:r>
            <a:endParaRPr lang="en-US" sz="680" dirty="0"/>
          </a:p>
        </p:txBody>
      </p:sp>
      <p:sp>
        <p:nvSpPr>
          <p:cNvPr id="11" name="Text 8"/>
          <p:cNvSpPr/>
          <p:nvPr/>
        </p:nvSpPr>
        <p:spPr>
          <a:xfrm>
            <a:off x="607219" y="2443163"/>
            <a:ext cx="228600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b="1" dirty="0">
                <a:solidFill>
                  <a:srgbClr val="0052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Nova Coluna</a:t>
            </a:r>
            <a:endParaRPr lang="en-US" sz="732" dirty="0"/>
          </a:p>
        </p:txBody>
      </p:sp>
      <p:sp>
        <p:nvSpPr>
          <p:cNvPr id="12" name="Text 9"/>
          <p:cNvSpPr/>
          <p:nvPr/>
        </p:nvSpPr>
        <p:spPr>
          <a:xfrm>
            <a:off x="607219" y="2628900"/>
            <a:ext cx="392571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80" b="1" dirty="0">
                <a:solidFill>
                  <a:srgbClr val="0052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Domínio</a:t>
            </a:r>
            <a:endParaRPr lang="en-US" sz="680" dirty="0"/>
          </a:p>
        </p:txBody>
      </p:sp>
      <p:sp>
        <p:nvSpPr>
          <p:cNvPr id="13" name="Text 10"/>
          <p:cNvSpPr/>
          <p:nvPr/>
        </p:nvSpPr>
        <p:spPr>
          <a:xfrm>
            <a:off x="999790" y="2628900"/>
            <a:ext cx="1395180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80" dirty="0">
                <a:solidFill>
                  <a:srgbClr val="6666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- facilitando análises agregadas</a:t>
            </a:r>
            <a:endParaRPr lang="en-US" sz="680" dirty="0"/>
          </a:p>
        </p:txBody>
      </p:sp>
      <p:sp>
        <p:nvSpPr>
          <p:cNvPr id="14" name="Text 11"/>
          <p:cNvSpPr/>
          <p:nvPr/>
        </p:nvSpPr>
        <p:spPr>
          <a:xfrm>
            <a:off x="607219" y="2850356"/>
            <a:ext cx="228600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b="1" dirty="0">
                <a:solidFill>
                  <a:srgbClr val="0052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Rastreabilidade</a:t>
            </a:r>
            <a:endParaRPr lang="en-US" sz="732" dirty="0"/>
          </a:p>
        </p:txBody>
      </p:sp>
      <p:sp>
        <p:nvSpPr>
          <p:cNvPr id="15" name="Text 12"/>
          <p:cNvSpPr/>
          <p:nvPr/>
        </p:nvSpPr>
        <p:spPr>
          <a:xfrm>
            <a:off x="607219" y="3036094"/>
            <a:ext cx="1784291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80" dirty="0">
                <a:solidFill>
                  <a:srgbClr val="6666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E-mail original preservado para auditoria</a:t>
            </a:r>
            <a:endParaRPr lang="en-US" sz="680" dirty="0"/>
          </a:p>
        </p:txBody>
      </p:sp>
      <p:sp>
        <p:nvSpPr>
          <p:cNvPr id="16" name="Shape 13"/>
          <p:cNvSpPr/>
          <p:nvPr/>
        </p:nvSpPr>
        <p:spPr>
          <a:xfrm>
            <a:off x="3250406" y="1021556"/>
            <a:ext cx="2643188" cy="3693319"/>
          </a:xfrm>
          <a:prstGeom prst="rect">
            <a:avLst/>
          </a:prstGeom>
          <a:solidFill>
            <a:srgbClr val="FFFFFF"/>
          </a:solidFill>
          <a:ln w="397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4"/>
          <p:cNvSpPr/>
          <p:nvPr/>
        </p:nvSpPr>
        <p:spPr>
          <a:xfrm>
            <a:off x="3429000" y="1200150"/>
            <a:ext cx="22860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0052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Status do E-mail</a:t>
            </a:r>
            <a:endParaRPr lang="en-US" sz="837" dirty="0"/>
          </a:p>
        </p:txBody>
      </p:sp>
      <p:sp>
        <p:nvSpPr>
          <p:cNvPr id="18" name="Text 15"/>
          <p:cNvSpPr/>
          <p:nvPr/>
        </p:nvSpPr>
        <p:spPr>
          <a:xfrm>
            <a:off x="3429000" y="1478756"/>
            <a:ext cx="228600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b="1" dirty="0">
                <a:solidFill>
                  <a:srgbClr val="0052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Reclassificação Automática</a:t>
            </a:r>
            <a:endParaRPr lang="en-US" sz="732" dirty="0"/>
          </a:p>
        </p:txBody>
      </p:sp>
      <p:sp>
        <p:nvSpPr>
          <p:cNvPr id="19" name="Text 16"/>
          <p:cNvSpPr/>
          <p:nvPr/>
        </p:nvSpPr>
        <p:spPr>
          <a:xfrm>
            <a:off x="3429000" y="1664494"/>
            <a:ext cx="417463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80" b="1" dirty="0">
                <a:solidFill>
                  <a:srgbClr val="0052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Whitelist</a:t>
            </a:r>
            <a:endParaRPr lang="en-US" sz="680" dirty="0"/>
          </a:p>
        </p:txBody>
      </p:sp>
      <p:sp>
        <p:nvSpPr>
          <p:cNvPr id="20" name="Text 17"/>
          <p:cNvSpPr/>
          <p:nvPr/>
        </p:nvSpPr>
        <p:spPr>
          <a:xfrm>
            <a:off x="3846463" y="1664494"/>
            <a:ext cx="1134405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80" dirty="0">
                <a:solidFill>
                  <a:srgbClr val="6666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de domínios corporativos</a:t>
            </a:r>
            <a:endParaRPr lang="en-US" sz="680" dirty="0"/>
          </a:p>
        </p:txBody>
      </p:sp>
      <p:sp>
        <p:nvSpPr>
          <p:cNvPr id="21" name="Text 18"/>
          <p:cNvSpPr/>
          <p:nvPr/>
        </p:nvSpPr>
        <p:spPr>
          <a:xfrm>
            <a:off x="3429000" y="1885950"/>
            <a:ext cx="228600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b="1" dirty="0">
                <a:solidFill>
                  <a:srgbClr val="0052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Validação Corporativa</a:t>
            </a:r>
            <a:endParaRPr lang="en-US" sz="732" dirty="0"/>
          </a:p>
        </p:txBody>
      </p:sp>
      <p:sp>
        <p:nvSpPr>
          <p:cNvPr id="22" name="Text 19"/>
          <p:cNvSpPr/>
          <p:nvPr/>
        </p:nvSpPr>
        <p:spPr>
          <a:xfrm>
            <a:off x="3429000" y="2071688"/>
            <a:ext cx="2273164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80" dirty="0">
                <a:solidFill>
                  <a:srgbClr val="6666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Redução de falsos negativos em empresas legítimas</a:t>
            </a:r>
            <a:endParaRPr lang="en-US" sz="680" dirty="0"/>
          </a:p>
        </p:txBody>
      </p:sp>
      <p:sp>
        <p:nvSpPr>
          <p:cNvPr id="23" name="Text 20"/>
          <p:cNvSpPr/>
          <p:nvPr/>
        </p:nvSpPr>
        <p:spPr>
          <a:xfrm>
            <a:off x="3429000" y="2293144"/>
            <a:ext cx="228600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b="1" dirty="0">
                <a:solidFill>
                  <a:srgbClr val="0052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Identificação Pessoal</a:t>
            </a:r>
            <a:endParaRPr lang="en-US" sz="732" dirty="0"/>
          </a:p>
        </p:txBody>
      </p:sp>
      <p:sp>
        <p:nvSpPr>
          <p:cNvPr id="24" name="Text 21"/>
          <p:cNvSpPr/>
          <p:nvPr/>
        </p:nvSpPr>
        <p:spPr>
          <a:xfrm>
            <a:off x="3429000" y="2478881"/>
            <a:ext cx="1940979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80" dirty="0">
                <a:solidFill>
                  <a:srgbClr val="6666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Categoria específica para @gmail, @hotmail, </a:t>
            </a:r>
            <a:endParaRPr lang="en-US" sz="680" dirty="0"/>
          </a:p>
        </p:txBody>
      </p:sp>
      <p:sp>
        <p:nvSpPr>
          <p:cNvPr id="25" name="Text 22"/>
          <p:cNvSpPr/>
          <p:nvPr/>
        </p:nvSpPr>
        <p:spPr>
          <a:xfrm>
            <a:off x="3429000" y="2628900"/>
            <a:ext cx="352723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80" dirty="0">
                <a:solidFill>
                  <a:srgbClr val="6666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@yahoo</a:t>
            </a:r>
            <a:endParaRPr lang="en-US" sz="680" dirty="0"/>
          </a:p>
        </p:txBody>
      </p:sp>
      <p:sp>
        <p:nvSpPr>
          <p:cNvPr id="26" name="Text 23"/>
          <p:cNvSpPr/>
          <p:nvPr/>
        </p:nvSpPr>
        <p:spPr>
          <a:xfrm>
            <a:off x="3429000" y="2850356"/>
            <a:ext cx="228600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b="1" dirty="0">
                <a:solidFill>
                  <a:srgbClr val="0052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Resultado</a:t>
            </a:r>
            <a:endParaRPr lang="en-US" sz="732" dirty="0"/>
          </a:p>
        </p:txBody>
      </p:sp>
      <p:sp>
        <p:nvSpPr>
          <p:cNvPr id="27" name="Text 24"/>
          <p:cNvSpPr/>
          <p:nvPr/>
        </p:nvSpPr>
        <p:spPr>
          <a:xfrm>
            <a:off x="3429000" y="3036094"/>
            <a:ext cx="2275675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80" dirty="0">
                <a:solidFill>
                  <a:srgbClr val="6666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Base confiável para campanhas de e-mail marketing</a:t>
            </a:r>
            <a:endParaRPr lang="en-US" sz="680" dirty="0"/>
          </a:p>
        </p:txBody>
      </p:sp>
      <p:sp>
        <p:nvSpPr>
          <p:cNvPr id="28" name="Shape 25"/>
          <p:cNvSpPr/>
          <p:nvPr/>
        </p:nvSpPr>
        <p:spPr>
          <a:xfrm>
            <a:off x="6072188" y="1021556"/>
            <a:ext cx="2643188" cy="3693319"/>
          </a:xfrm>
          <a:prstGeom prst="rect">
            <a:avLst/>
          </a:prstGeom>
          <a:solidFill>
            <a:srgbClr val="FFFFFF"/>
          </a:solidFill>
          <a:ln w="397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Text 26"/>
          <p:cNvSpPr/>
          <p:nvPr/>
        </p:nvSpPr>
        <p:spPr>
          <a:xfrm>
            <a:off x="6250781" y="1200150"/>
            <a:ext cx="22860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0052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Tamanho da Empresa</a:t>
            </a:r>
            <a:endParaRPr lang="en-US" sz="837" dirty="0"/>
          </a:p>
        </p:txBody>
      </p:sp>
      <p:sp>
        <p:nvSpPr>
          <p:cNvPr id="30" name="Text 27"/>
          <p:cNvSpPr/>
          <p:nvPr/>
        </p:nvSpPr>
        <p:spPr>
          <a:xfrm>
            <a:off x="6250781" y="1478756"/>
            <a:ext cx="228600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b="1" dirty="0">
                <a:solidFill>
                  <a:srgbClr val="0052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Padronização</a:t>
            </a:r>
            <a:endParaRPr lang="en-US" sz="732" dirty="0"/>
          </a:p>
        </p:txBody>
      </p:sp>
      <p:sp>
        <p:nvSpPr>
          <p:cNvPr id="31" name="Text 28"/>
          <p:cNvSpPr/>
          <p:nvPr/>
        </p:nvSpPr>
        <p:spPr>
          <a:xfrm>
            <a:off x="6250781" y="1664494"/>
            <a:ext cx="2264150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80" dirty="0">
                <a:solidFill>
                  <a:srgbClr val="6666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Conversão de faixas para valores numéricos médios</a:t>
            </a:r>
            <a:endParaRPr lang="en-US" sz="680" dirty="0"/>
          </a:p>
        </p:txBody>
      </p:sp>
      <p:sp>
        <p:nvSpPr>
          <p:cNvPr id="32" name="Text 29"/>
          <p:cNvSpPr/>
          <p:nvPr/>
        </p:nvSpPr>
        <p:spPr>
          <a:xfrm>
            <a:off x="6250781" y="1885950"/>
            <a:ext cx="228600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b="1" dirty="0">
                <a:solidFill>
                  <a:srgbClr val="0052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Mapeamento</a:t>
            </a:r>
            <a:endParaRPr lang="en-US" sz="732" dirty="0"/>
          </a:p>
        </p:txBody>
      </p:sp>
      <p:sp>
        <p:nvSpPr>
          <p:cNvPr id="33" name="Text 30"/>
          <p:cNvSpPr/>
          <p:nvPr/>
        </p:nvSpPr>
        <p:spPr>
          <a:xfrm>
            <a:off x="6250781" y="2071688"/>
            <a:ext cx="1771845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80" dirty="0">
                <a:solidFill>
                  <a:srgbClr val="6666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1-10 → 5, 11-50 → 30, 51-200 → 125, etc.</a:t>
            </a:r>
            <a:endParaRPr lang="en-US" sz="680" dirty="0"/>
          </a:p>
        </p:txBody>
      </p:sp>
      <p:sp>
        <p:nvSpPr>
          <p:cNvPr id="34" name="Text 31"/>
          <p:cNvSpPr/>
          <p:nvPr/>
        </p:nvSpPr>
        <p:spPr>
          <a:xfrm>
            <a:off x="6250781" y="2293144"/>
            <a:ext cx="228600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b="1" dirty="0">
                <a:solidFill>
                  <a:srgbClr val="0052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Nova Coluna</a:t>
            </a:r>
            <a:endParaRPr lang="en-US" sz="732" dirty="0"/>
          </a:p>
        </p:txBody>
      </p:sp>
      <p:sp>
        <p:nvSpPr>
          <p:cNvPr id="35" name="Text 32"/>
          <p:cNvSpPr/>
          <p:nvPr/>
        </p:nvSpPr>
        <p:spPr>
          <a:xfrm>
            <a:off x="6250781" y="2478881"/>
            <a:ext cx="1192085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80" b="1" dirty="0">
                <a:solidFill>
                  <a:srgbClr val="0052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Tamanho_Medio_Empresa</a:t>
            </a:r>
            <a:endParaRPr lang="en-US" sz="680" dirty="0"/>
          </a:p>
        </p:txBody>
      </p:sp>
      <p:sp>
        <p:nvSpPr>
          <p:cNvPr id="36" name="Text 33"/>
          <p:cNvSpPr/>
          <p:nvPr/>
        </p:nvSpPr>
        <p:spPr>
          <a:xfrm>
            <a:off x="6250781" y="2478881"/>
            <a:ext cx="1789063" cy="2768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80" dirty="0">
                <a:solidFill>
                  <a:srgbClr val="6666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para análises quantitativas</a:t>
            </a:r>
            <a:endParaRPr lang="en-US" sz="680" dirty="0"/>
          </a:p>
        </p:txBody>
      </p:sp>
      <p:sp>
        <p:nvSpPr>
          <p:cNvPr id="37" name="Text 34"/>
          <p:cNvSpPr/>
          <p:nvPr/>
        </p:nvSpPr>
        <p:spPr>
          <a:xfrm>
            <a:off x="6250781" y="2850356"/>
            <a:ext cx="228600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b="1" dirty="0">
                <a:solidFill>
                  <a:srgbClr val="0052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Benefício</a:t>
            </a:r>
            <a:endParaRPr lang="en-US" sz="732" dirty="0"/>
          </a:p>
        </p:txBody>
      </p:sp>
      <p:sp>
        <p:nvSpPr>
          <p:cNvPr id="38" name="Text 35"/>
          <p:cNvSpPr/>
          <p:nvPr/>
        </p:nvSpPr>
        <p:spPr>
          <a:xfrm>
            <a:off x="6250781" y="3036094"/>
            <a:ext cx="1886090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80" dirty="0">
                <a:solidFill>
                  <a:srgbClr val="6666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Análises estatísticas e correlações possíveis</a:t>
            </a:r>
            <a:endParaRPr lang="en-US" sz="6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0579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28625"/>
            <a:ext cx="82867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052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Modelagem de Dados: Transformando Dados Brutos em Informação Acionável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417909" y="1064419"/>
            <a:ext cx="4036219" cy="278606"/>
          </a:xfrm>
          <a:prstGeom prst="rect">
            <a:avLst/>
          </a:prstGeom>
          <a:noFill/>
          <a:ln/>
        </p:spPr>
        <p:txBody>
          <a:bodyPr wrap="none" lIns="0" tIns="0" rIns="0" bIns="85090" rtlCol="0" anchor="ctr">
            <a:spAutoFit/>
          </a:bodyPr>
          <a:lstStyle/>
          <a:p>
            <a:pPr marL="0" indent="0">
              <a:buNone/>
            </a:pPr>
            <a:r>
              <a:rPr lang="en-US" sz="942" b="1" dirty="0">
                <a:solidFill>
                  <a:srgbClr val="0052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Enriquecimento e Novas Colunas</a:t>
            </a:r>
            <a:endParaRPr lang="en-US" sz="942" dirty="0"/>
          </a:p>
        </p:txBody>
      </p:sp>
      <p:sp>
        <p:nvSpPr>
          <p:cNvPr id="5" name="Shape 2"/>
          <p:cNvSpPr/>
          <p:nvPr/>
        </p:nvSpPr>
        <p:spPr>
          <a:xfrm>
            <a:off x="403622" y="1312123"/>
            <a:ext cx="4036219" cy="539353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Shape 3"/>
          <p:cNvSpPr/>
          <p:nvPr/>
        </p:nvSpPr>
        <p:spPr>
          <a:xfrm>
            <a:off x="403622" y="1312123"/>
            <a:ext cx="28575" cy="539353"/>
          </a:xfrm>
          <a:prstGeom prst="rect">
            <a:avLst/>
          </a:prstGeom>
          <a:solidFill>
            <a:srgbClr val="1E88E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4"/>
          <p:cNvSpPr/>
          <p:nvPr/>
        </p:nvSpPr>
        <p:spPr>
          <a:xfrm>
            <a:off x="510778" y="1419279"/>
            <a:ext cx="3821906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b="1" dirty="0">
                <a:solidFill>
                  <a:srgbClr val="0052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Domínio</a:t>
            </a:r>
            <a:endParaRPr lang="en-US" sz="732" dirty="0"/>
          </a:p>
        </p:txBody>
      </p:sp>
      <p:sp>
        <p:nvSpPr>
          <p:cNvPr id="8" name="Text 5"/>
          <p:cNvSpPr/>
          <p:nvPr/>
        </p:nvSpPr>
        <p:spPr>
          <a:xfrm>
            <a:off x="510778" y="1605017"/>
            <a:ext cx="3821906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80" dirty="0">
                <a:solidFill>
                  <a:srgbClr val="6666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Extraído do e-mail, crucial para segmentação por empresa.</a:t>
            </a:r>
            <a:endParaRPr lang="en-US" sz="680" dirty="0"/>
          </a:p>
        </p:txBody>
      </p:sp>
      <p:sp>
        <p:nvSpPr>
          <p:cNvPr id="9" name="Shape 6"/>
          <p:cNvSpPr/>
          <p:nvPr/>
        </p:nvSpPr>
        <p:spPr>
          <a:xfrm>
            <a:off x="403622" y="1920256"/>
            <a:ext cx="4036219" cy="539353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Shape 7"/>
          <p:cNvSpPr/>
          <p:nvPr/>
        </p:nvSpPr>
        <p:spPr>
          <a:xfrm>
            <a:off x="403622" y="1920256"/>
            <a:ext cx="28575" cy="539353"/>
          </a:xfrm>
          <a:prstGeom prst="rect">
            <a:avLst/>
          </a:prstGeom>
          <a:solidFill>
            <a:srgbClr val="1E88E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8"/>
          <p:cNvSpPr/>
          <p:nvPr/>
        </p:nvSpPr>
        <p:spPr>
          <a:xfrm>
            <a:off x="510778" y="2027412"/>
            <a:ext cx="3821906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b="1" dirty="0">
                <a:solidFill>
                  <a:srgbClr val="0052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Tamanho_Medio_Empresa</a:t>
            </a:r>
            <a:endParaRPr lang="en-US" sz="732" dirty="0"/>
          </a:p>
        </p:txBody>
      </p:sp>
      <p:sp>
        <p:nvSpPr>
          <p:cNvPr id="12" name="Text 9"/>
          <p:cNvSpPr/>
          <p:nvPr/>
        </p:nvSpPr>
        <p:spPr>
          <a:xfrm>
            <a:off x="510778" y="2213150"/>
            <a:ext cx="3821906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80" dirty="0">
                <a:solidFill>
                  <a:srgbClr val="6666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Numérico, para análises quantitativas de porte empresarial.</a:t>
            </a:r>
            <a:endParaRPr lang="en-US" sz="680" dirty="0"/>
          </a:p>
        </p:txBody>
      </p:sp>
      <p:sp>
        <p:nvSpPr>
          <p:cNvPr id="13" name="Shape 10"/>
          <p:cNvSpPr/>
          <p:nvPr/>
        </p:nvSpPr>
        <p:spPr>
          <a:xfrm>
            <a:off x="403622" y="2545418"/>
            <a:ext cx="4036219" cy="539353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Shape 11"/>
          <p:cNvSpPr/>
          <p:nvPr/>
        </p:nvSpPr>
        <p:spPr>
          <a:xfrm>
            <a:off x="403622" y="2545418"/>
            <a:ext cx="28575" cy="539353"/>
          </a:xfrm>
          <a:prstGeom prst="rect">
            <a:avLst/>
          </a:prstGeom>
          <a:solidFill>
            <a:srgbClr val="1E88E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2"/>
          <p:cNvSpPr/>
          <p:nvPr/>
        </p:nvSpPr>
        <p:spPr>
          <a:xfrm>
            <a:off x="510778" y="2652574"/>
            <a:ext cx="3821906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b="1" dirty="0">
                <a:solidFill>
                  <a:srgbClr val="0052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Setor_empresa_padronizado</a:t>
            </a:r>
            <a:endParaRPr lang="en-US" sz="732" dirty="0"/>
          </a:p>
        </p:txBody>
      </p:sp>
      <p:sp>
        <p:nvSpPr>
          <p:cNvPr id="16" name="Text 13"/>
          <p:cNvSpPr/>
          <p:nvPr/>
        </p:nvSpPr>
        <p:spPr>
          <a:xfrm>
            <a:off x="510778" y="2838311"/>
            <a:ext cx="3821906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80" dirty="0">
                <a:solidFill>
                  <a:srgbClr val="6666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Unificação de categorias para análise setorial.</a:t>
            </a:r>
            <a:endParaRPr lang="en-US" sz="680" dirty="0"/>
          </a:p>
        </p:txBody>
      </p:sp>
      <p:sp>
        <p:nvSpPr>
          <p:cNvPr id="17" name="Shape 14"/>
          <p:cNvSpPr/>
          <p:nvPr/>
        </p:nvSpPr>
        <p:spPr>
          <a:xfrm>
            <a:off x="403622" y="3187772"/>
            <a:ext cx="4036219" cy="539353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Shape 15"/>
          <p:cNvSpPr/>
          <p:nvPr/>
        </p:nvSpPr>
        <p:spPr>
          <a:xfrm>
            <a:off x="403622" y="3187772"/>
            <a:ext cx="28575" cy="539353"/>
          </a:xfrm>
          <a:prstGeom prst="rect">
            <a:avLst/>
          </a:prstGeom>
          <a:solidFill>
            <a:srgbClr val="1E88E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Text 16"/>
          <p:cNvSpPr/>
          <p:nvPr/>
        </p:nvSpPr>
        <p:spPr>
          <a:xfrm>
            <a:off x="510778" y="3294928"/>
            <a:ext cx="3821906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b="1" dirty="0">
                <a:solidFill>
                  <a:srgbClr val="0052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Nivel_Confianca_Email</a:t>
            </a:r>
            <a:endParaRPr lang="en-US" sz="732" dirty="0"/>
          </a:p>
        </p:txBody>
      </p:sp>
      <p:sp>
        <p:nvSpPr>
          <p:cNvPr id="20" name="Text 17"/>
          <p:cNvSpPr/>
          <p:nvPr/>
        </p:nvSpPr>
        <p:spPr>
          <a:xfrm>
            <a:off x="510778" y="3480666"/>
            <a:ext cx="3821906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80" dirty="0">
                <a:solidFill>
                  <a:srgbClr val="6666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Classificação da qualidade do e-mail (Alta, Média, Baixa).</a:t>
            </a:r>
            <a:endParaRPr lang="en-US" sz="680" dirty="0"/>
          </a:p>
        </p:txBody>
      </p:sp>
      <p:sp>
        <p:nvSpPr>
          <p:cNvPr id="21" name="Shape 18"/>
          <p:cNvSpPr/>
          <p:nvPr/>
        </p:nvSpPr>
        <p:spPr>
          <a:xfrm>
            <a:off x="403622" y="3824232"/>
            <a:ext cx="4036219" cy="539353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Shape 19"/>
          <p:cNvSpPr/>
          <p:nvPr/>
        </p:nvSpPr>
        <p:spPr>
          <a:xfrm>
            <a:off x="403622" y="3824232"/>
            <a:ext cx="28575" cy="539353"/>
          </a:xfrm>
          <a:prstGeom prst="rect">
            <a:avLst/>
          </a:prstGeom>
          <a:solidFill>
            <a:srgbClr val="1E88E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" name="Text 20"/>
          <p:cNvSpPr/>
          <p:nvPr/>
        </p:nvSpPr>
        <p:spPr>
          <a:xfrm>
            <a:off x="510778" y="3931389"/>
            <a:ext cx="3821906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b="1" dirty="0">
                <a:solidFill>
                  <a:srgbClr val="0052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Cargo_Nivel_Hierarquico</a:t>
            </a:r>
            <a:endParaRPr lang="en-US" sz="732" dirty="0"/>
          </a:p>
        </p:txBody>
      </p:sp>
      <p:sp>
        <p:nvSpPr>
          <p:cNvPr id="24" name="Text 21"/>
          <p:cNvSpPr/>
          <p:nvPr/>
        </p:nvSpPr>
        <p:spPr>
          <a:xfrm>
            <a:off x="510778" y="4117126"/>
            <a:ext cx="3821906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80" dirty="0">
                <a:solidFill>
                  <a:srgbClr val="6666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Categorização de cargos (C-Level, Diretor, Gerente, Analista).</a:t>
            </a:r>
            <a:endParaRPr lang="en-US" sz="680" dirty="0"/>
          </a:p>
        </p:txBody>
      </p:sp>
      <p:sp>
        <p:nvSpPr>
          <p:cNvPr id="25" name="Shape 22"/>
          <p:cNvSpPr/>
          <p:nvPr/>
        </p:nvSpPr>
        <p:spPr>
          <a:xfrm>
            <a:off x="403622" y="4470742"/>
            <a:ext cx="4036219" cy="539353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6" name="Shape 23"/>
          <p:cNvSpPr/>
          <p:nvPr/>
        </p:nvSpPr>
        <p:spPr>
          <a:xfrm>
            <a:off x="403622" y="4470742"/>
            <a:ext cx="28575" cy="539353"/>
          </a:xfrm>
          <a:prstGeom prst="rect">
            <a:avLst/>
          </a:prstGeom>
          <a:solidFill>
            <a:srgbClr val="1E88E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7" name="Text 24"/>
          <p:cNvSpPr/>
          <p:nvPr/>
        </p:nvSpPr>
        <p:spPr>
          <a:xfrm>
            <a:off x="510778" y="4577898"/>
            <a:ext cx="3821906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b="1" dirty="0">
                <a:solidFill>
                  <a:srgbClr val="0052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Tem_LinkedIn</a:t>
            </a:r>
            <a:endParaRPr lang="en-US" sz="732" dirty="0"/>
          </a:p>
        </p:txBody>
      </p:sp>
      <p:sp>
        <p:nvSpPr>
          <p:cNvPr id="28" name="Text 25"/>
          <p:cNvSpPr/>
          <p:nvPr/>
        </p:nvSpPr>
        <p:spPr>
          <a:xfrm>
            <a:off x="510778" y="4763635"/>
            <a:ext cx="3821906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80" dirty="0">
                <a:solidFill>
                  <a:srgbClr val="6666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Indicador binário de presença no LinkedIn.</a:t>
            </a:r>
            <a:endParaRPr lang="en-US" sz="680" dirty="0"/>
          </a:p>
        </p:txBody>
      </p:sp>
      <p:sp>
        <p:nvSpPr>
          <p:cNvPr id="29" name="Text 26"/>
          <p:cNvSpPr/>
          <p:nvPr/>
        </p:nvSpPr>
        <p:spPr>
          <a:xfrm>
            <a:off x="4679156" y="1064419"/>
            <a:ext cx="4036219" cy="278606"/>
          </a:xfrm>
          <a:prstGeom prst="rect">
            <a:avLst/>
          </a:prstGeom>
          <a:noFill/>
          <a:ln/>
        </p:spPr>
        <p:txBody>
          <a:bodyPr wrap="none" lIns="0" tIns="0" rIns="0" bIns="85090" rtlCol="0" anchor="ctr">
            <a:spAutoFit/>
          </a:bodyPr>
          <a:lstStyle/>
          <a:p>
            <a:pPr marL="0" indent="0">
              <a:buNone/>
            </a:pPr>
            <a:r>
              <a:rPr lang="en-US" sz="942" b="1" dirty="0">
                <a:solidFill>
                  <a:srgbClr val="0052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Técnicas e Análises Aplicadas</a:t>
            </a:r>
            <a:endParaRPr lang="en-US" sz="942" dirty="0"/>
          </a:p>
        </p:txBody>
      </p:sp>
      <p:sp>
        <p:nvSpPr>
          <p:cNvPr id="30" name="Text 27"/>
          <p:cNvSpPr/>
          <p:nvPr/>
        </p:nvSpPr>
        <p:spPr>
          <a:xfrm>
            <a:off x="4843463" y="1750219"/>
            <a:ext cx="387191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b="1" dirty="0">
                <a:solidFill>
                  <a:srgbClr val="0052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Agrupamento e Agregação</a:t>
            </a:r>
            <a:endParaRPr lang="en-US" sz="732" dirty="0"/>
          </a:p>
        </p:txBody>
      </p:sp>
      <p:sp>
        <p:nvSpPr>
          <p:cNvPr id="31" name="Text 28"/>
          <p:cNvSpPr/>
          <p:nvPr/>
        </p:nvSpPr>
        <p:spPr>
          <a:xfrm>
            <a:off x="4843463" y="1935956"/>
            <a:ext cx="3871913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80" dirty="0">
                <a:solidFill>
                  <a:srgbClr val="6666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Obtenção de métricas por País, Setor, Tamanho de Empresa e Nível Hierárquico.</a:t>
            </a:r>
            <a:endParaRPr lang="en-US" sz="680" dirty="0"/>
          </a:p>
        </p:txBody>
      </p:sp>
      <p:sp>
        <p:nvSpPr>
          <p:cNvPr id="32" name="Text 29"/>
          <p:cNvSpPr/>
          <p:nvPr/>
        </p:nvSpPr>
        <p:spPr>
          <a:xfrm>
            <a:off x="4843463" y="2203847"/>
            <a:ext cx="387191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b="1" dirty="0">
                <a:solidFill>
                  <a:srgbClr val="0052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Análise de Correlação</a:t>
            </a:r>
            <a:endParaRPr lang="en-US" sz="732" dirty="0"/>
          </a:p>
        </p:txBody>
      </p:sp>
      <p:sp>
        <p:nvSpPr>
          <p:cNvPr id="33" name="Text 30"/>
          <p:cNvSpPr/>
          <p:nvPr/>
        </p:nvSpPr>
        <p:spPr>
          <a:xfrm>
            <a:off x="4843463" y="2389584"/>
            <a:ext cx="3871913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80" dirty="0">
                <a:solidFill>
                  <a:srgbClr val="6666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Identificação de padrões entre variáveis demográficas e de contato.</a:t>
            </a:r>
            <a:endParaRPr lang="en-US" sz="680" dirty="0"/>
          </a:p>
        </p:txBody>
      </p:sp>
      <p:sp>
        <p:nvSpPr>
          <p:cNvPr id="34" name="Text 31"/>
          <p:cNvSpPr/>
          <p:nvPr/>
        </p:nvSpPr>
        <p:spPr>
          <a:xfrm>
            <a:off x="4843463" y="2657475"/>
            <a:ext cx="387191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b="1" dirty="0">
                <a:solidFill>
                  <a:srgbClr val="0052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Criação de KPIs</a:t>
            </a:r>
            <a:endParaRPr lang="en-US" sz="732" dirty="0"/>
          </a:p>
        </p:txBody>
      </p:sp>
      <p:sp>
        <p:nvSpPr>
          <p:cNvPr id="35" name="Text 32"/>
          <p:cNvSpPr/>
          <p:nvPr/>
        </p:nvSpPr>
        <p:spPr>
          <a:xfrm>
            <a:off x="4843463" y="2843213"/>
            <a:ext cx="3871913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80" dirty="0">
                <a:solidFill>
                  <a:srgbClr val="6666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Percentual de e-mails válidos, presença no LinkedIn por cargo, score de confiança.</a:t>
            </a:r>
            <a:endParaRPr lang="en-US" sz="680" dirty="0"/>
          </a:p>
        </p:txBody>
      </p:sp>
      <p:sp>
        <p:nvSpPr>
          <p:cNvPr id="36" name="Text 33"/>
          <p:cNvSpPr/>
          <p:nvPr/>
        </p:nvSpPr>
        <p:spPr>
          <a:xfrm>
            <a:off x="4843463" y="3111103"/>
            <a:ext cx="387191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b="1" dirty="0">
                <a:solidFill>
                  <a:srgbClr val="0052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Normalização de Dados</a:t>
            </a:r>
            <a:endParaRPr lang="en-US" sz="732" dirty="0"/>
          </a:p>
        </p:txBody>
      </p:sp>
      <p:sp>
        <p:nvSpPr>
          <p:cNvPr id="37" name="Text 34"/>
          <p:cNvSpPr/>
          <p:nvPr/>
        </p:nvSpPr>
        <p:spPr>
          <a:xfrm>
            <a:off x="4843463" y="3296841"/>
            <a:ext cx="3871913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80" dirty="0">
                <a:solidFill>
                  <a:srgbClr val="6666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Padronização de formatos para garantir consistência nas análises.</a:t>
            </a:r>
            <a:endParaRPr lang="en-US" sz="680" dirty="0"/>
          </a:p>
        </p:txBody>
      </p:sp>
      <p:sp>
        <p:nvSpPr>
          <p:cNvPr id="38" name="Text 35"/>
          <p:cNvSpPr/>
          <p:nvPr/>
        </p:nvSpPr>
        <p:spPr>
          <a:xfrm>
            <a:off x="4843463" y="3564731"/>
            <a:ext cx="387191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b="1" dirty="0">
                <a:solidFill>
                  <a:srgbClr val="0052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Segmentação Estratégica</a:t>
            </a:r>
            <a:endParaRPr lang="en-US" sz="732" dirty="0"/>
          </a:p>
        </p:txBody>
      </p:sp>
      <p:sp>
        <p:nvSpPr>
          <p:cNvPr id="39" name="Text 36"/>
          <p:cNvSpPr/>
          <p:nvPr/>
        </p:nvSpPr>
        <p:spPr>
          <a:xfrm>
            <a:off x="4843463" y="3750469"/>
            <a:ext cx="3871913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80" dirty="0">
                <a:solidFill>
                  <a:srgbClr val="6666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Criação de grupos homogêneos para análise de público-alvo.</a:t>
            </a:r>
            <a:endParaRPr lang="en-US" sz="6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28625"/>
            <a:ext cx="828675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052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Perfis de Clientes e Segmentação: Quem é o Nosso Público na Europa?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428625" y="1057275"/>
            <a:ext cx="2619356" cy="300038"/>
          </a:xfrm>
          <a:prstGeom prst="rect">
            <a:avLst/>
          </a:prstGeom>
          <a:noFill/>
          <a:ln/>
        </p:spPr>
        <p:txBody>
          <a:bodyPr wrap="square" lIns="0" tIns="0" rIns="0" bIns="102108" rtlCol="0" anchor="ctr">
            <a:spAutoFit/>
          </a:bodyPr>
          <a:lstStyle/>
          <a:p>
            <a:pPr marL="0" indent="0">
              <a:buNone/>
            </a:pPr>
            <a:r>
              <a:rPr lang="en-US" sz="942" b="1" dirty="0">
                <a:solidFill>
                  <a:srgbClr val="0052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Perfis de Cargos</a:t>
            </a:r>
            <a:endParaRPr lang="en-US" sz="942" dirty="0"/>
          </a:p>
        </p:txBody>
      </p:sp>
      <p:sp>
        <p:nvSpPr>
          <p:cNvPr id="5" name="Text 2"/>
          <p:cNvSpPr/>
          <p:nvPr/>
        </p:nvSpPr>
        <p:spPr>
          <a:xfrm>
            <a:off x="600075" y="1507331"/>
            <a:ext cx="266719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85" b="1" dirty="0">
                <a:solidFill>
                  <a:srgbClr val="0052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CTOs</a:t>
            </a:r>
            <a:endParaRPr lang="en-US" sz="785" dirty="0"/>
          </a:p>
        </p:txBody>
      </p:sp>
      <p:sp>
        <p:nvSpPr>
          <p:cNvPr id="6" name="Text 3"/>
          <p:cNvSpPr/>
          <p:nvPr/>
        </p:nvSpPr>
        <p:spPr>
          <a:xfrm>
            <a:off x="866794" y="1507331"/>
            <a:ext cx="1373553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85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(Chief Technology Officers)</a:t>
            </a:r>
            <a:endParaRPr lang="en-US" sz="785" dirty="0"/>
          </a:p>
        </p:txBody>
      </p:sp>
      <p:sp>
        <p:nvSpPr>
          <p:cNvPr id="7" name="Text 4"/>
          <p:cNvSpPr/>
          <p:nvPr/>
        </p:nvSpPr>
        <p:spPr>
          <a:xfrm>
            <a:off x="600075" y="1768078"/>
            <a:ext cx="598373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85" b="1" dirty="0">
                <a:solidFill>
                  <a:srgbClr val="0052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Heads of IT</a:t>
            </a:r>
            <a:endParaRPr lang="en-US" sz="785" dirty="0"/>
          </a:p>
        </p:txBody>
      </p:sp>
      <p:sp>
        <p:nvSpPr>
          <p:cNvPr id="8" name="Text 5"/>
          <p:cNvSpPr/>
          <p:nvPr/>
        </p:nvSpPr>
        <p:spPr>
          <a:xfrm>
            <a:off x="1198448" y="1768078"/>
            <a:ext cx="835930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85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(Diretores de TI)</a:t>
            </a:r>
            <a:endParaRPr lang="en-US" sz="785" dirty="0"/>
          </a:p>
        </p:txBody>
      </p:sp>
      <p:sp>
        <p:nvSpPr>
          <p:cNvPr id="9" name="Text 6"/>
          <p:cNvSpPr/>
          <p:nvPr/>
        </p:nvSpPr>
        <p:spPr>
          <a:xfrm>
            <a:off x="600075" y="2028825"/>
            <a:ext cx="774874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85" b="1" dirty="0">
                <a:solidFill>
                  <a:srgbClr val="0052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Gerentes de TI</a:t>
            </a:r>
            <a:endParaRPr lang="en-US" sz="785" dirty="0"/>
          </a:p>
        </p:txBody>
      </p:sp>
      <p:sp>
        <p:nvSpPr>
          <p:cNvPr id="10" name="Text 7"/>
          <p:cNvSpPr/>
          <p:nvPr/>
        </p:nvSpPr>
        <p:spPr>
          <a:xfrm>
            <a:off x="1374949" y="2028825"/>
            <a:ext cx="825857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85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e Infraestrutura</a:t>
            </a:r>
            <a:endParaRPr lang="en-US" sz="785" dirty="0"/>
          </a:p>
        </p:txBody>
      </p:sp>
      <p:sp>
        <p:nvSpPr>
          <p:cNvPr id="11" name="Text 8"/>
          <p:cNvSpPr/>
          <p:nvPr/>
        </p:nvSpPr>
        <p:spPr>
          <a:xfrm>
            <a:off x="600075" y="2289572"/>
            <a:ext cx="1284284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85" b="1" dirty="0">
                <a:solidFill>
                  <a:srgbClr val="0052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Gerentes de Engenharia</a:t>
            </a:r>
            <a:endParaRPr lang="en-US" sz="785" dirty="0"/>
          </a:p>
        </p:txBody>
      </p:sp>
      <p:sp>
        <p:nvSpPr>
          <p:cNvPr id="12" name="Text 9"/>
          <p:cNvSpPr/>
          <p:nvPr/>
        </p:nvSpPr>
        <p:spPr>
          <a:xfrm>
            <a:off x="600075" y="2550319"/>
            <a:ext cx="1065144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85" b="1" dirty="0">
                <a:solidFill>
                  <a:srgbClr val="0052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Setores Prioritários:</a:t>
            </a:r>
            <a:endParaRPr lang="en-US" sz="785" dirty="0"/>
          </a:p>
        </p:txBody>
      </p:sp>
      <p:sp>
        <p:nvSpPr>
          <p:cNvPr id="13" name="Text 10"/>
          <p:cNvSpPr/>
          <p:nvPr/>
        </p:nvSpPr>
        <p:spPr>
          <a:xfrm>
            <a:off x="600075" y="2550319"/>
            <a:ext cx="2314687" cy="4679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85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Desenvolvimento de Software, Internet/Serviços Online, Segurança de Dados</a:t>
            </a:r>
            <a:endParaRPr lang="en-US" sz="785" dirty="0"/>
          </a:p>
        </p:txBody>
      </p:sp>
      <p:sp>
        <p:nvSpPr>
          <p:cNvPr id="14" name="Text 11"/>
          <p:cNvSpPr/>
          <p:nvPr/>
        </p:nvSpPr>
        <p:spPr>
          <a:xfrm>
            <a:off x="3262294" y="1057275"/>
            <a:ext cx="2619384" cy="300038"/>
          </a:xfrm>
          <a:prstGeom prst="rect">
            <a:avLst/>
          </a:prstGeom>
          <a:noFill/>
          <a:ln/>
        </p:spPr>
        <p:txBody>
          <a:bodyPr wrap="square" lIns="0" tIns="0" rIns="0" bIns="102108" rtlCol="0" anchor="ctr">
            <a:spAutoFit/>
          </a:bodyPr>
          <a:lstStyle/>
          <a:p>
            <a:pPr marL="0" indent="0">
              <a:buNone/>
            </a:pPr>
            <a:r>
              <a:rPr lang="en-US" sz="942" b="1" dirty="0">
                <a:solidFill>
                  <a:srgbClr val="0052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Segmentação Geográfica</a:t>
            </a:r>
            <a:endParaRPr lang="en-US" sz="942" dirty="0"/>
          </a:p>
        </p:txBody>
      </p:sp>
      <p:sp>
        <p:nvSpPr>
          <p:cNvPr id="15" name="Text 12"/>
          <p:cNvSpPr/>
          <p:nvPr/>
        </p:nvSpPr>
        <p:spPr>
          <a:xfrm>
            <a:off x="3433744" y="1507331"/>
            <a:ext cx="670592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85" b="1" dirty="0">
                <a:solidFill>
                  <a:srgbClr val="0052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Região Foco:</a:t>
            </a:r>
            <a:endParaRPr lang="en-US" sz="785" dirty="0"/>
          </a:p>
        </p:txBody>
      </p:sp>
      <p:sp>
        <p:nvSpPr>
          <p:cNvPr id="16" name="Text 13"/>
          <p:cNvSpPr/>
          <p:nvPr/>
        </p:nvSpPr>
        <p:spPr>
          <a:xfrm>
            <a:off x="4104336" y="1507331"/>
            <a:ext cx="1165129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85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Europa Ocidental e Sul</a:t>
            </a:r>
            <a:endParaRPr lang="en-US" sz="785" dirty="0"/>
          </a:p>
        </p:txBody>
      </p:sp>
      <p:sp>
        <p:nvSpPr>
          <p:cNvPr id="17" name="Text 14"/>
          <p:cNvSpPr/>
          <p:nvPr/>
        </p:nvSpPr>
        <p:spPr>
          <a:xfrm>
            <a:off x="3433744" y="1768078"/>
            <a:ext cx="545436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85" b="1" dirty="0">
                <a:solidFill>
                  <a:srgbClr val="0052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Alemanha</a:t>
            </a:r>
            <a:endParaRPr lang="en-US" sz="785" dirty="0"/>
          </a:p>
        </p:txBody>
      </p:sp>
      <p:sp>
        <p:nvSpPr>
          <p:cNvPr id="18" name="Text 15"/>
          <p:cNvSpPr/>
          <p:nvPr/>
        </p:nvSpPr>
        <p:spPr>
          <a:xfrm>
            <a:off x="3979180" y="1768078"/>
            <a:ext cx="857166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85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- Maior mercado</a:t>
            </a:r>
            <a:endParaRPr lang="en-US" sz="785" dirty="0"/>
          </a:p>
        </p:txBody>
      </p:sp>
      <p:sp>
        <p:nvSpPr>
          <p:cNvPr id="19" name="Text 16"/>
          <p:cNvSpPr/>
          <p:nvPr/>
        </p:nvSpPr>
        <p:spPr>
          <a:xfrm>
            <a:off x="3433744" y="2028825"/>
            <a:ext cx="451368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85" b="1" dirty="0">
                <a:solidFill>
                  <a:srgbClr val="0052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Espanha</a:t>
            </a:r>
            <a:endParaRPr lang="en-US" sz="785" dirty="0"/>
          </a:p>
        </p:txBody>
      </p:sp>
      <p:sp>
        <p:nvSpPr>
          <p:cNvPr id="20" name="Text 17"/>
          <p:cNvSpPr/>
          <p:nvPr/>
        </p:nvSpPr>
        <p:spPr>
          <a:xfrm>
            <a:off x="3885112" y="2028825"/>
            <a:ext cx="1212066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85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- Crescimento potencial</a:t>
            </a:r>
            <a:endParaRPr lang="en-US" sz="785" dirty="0"/>
          </a:p>
        </p:txBody>
      </p:sp>
      <p:sp>
        <p:nvSpPr>
          <p:cNvPr id="21" name="Text 18"/>
          <p:cNvSpPr/>
          <p:nvPr/>
        </p:nvSpPr>
        <p:spPr>
          <a:xfrm>
            <a:off x="3433744" y="2289572"/>
            <a:ext cx="649607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85" b="1" dirty="0">
                <a:solidFill>
                  <a:srgbClr val="0052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Reino Unido</a:t>
            </a:r>
            <a:endParaRPr lang="en-US" sz="785" dirty="0"/>
          </a:p>
        </p:txBody>
      </p:sp>
      <p:sp>
        <p:nvSpPr>
          <p:cNvPr id="22" name="Text 19"/>
          <p:cNvSpPr/>
          <p:nvPr/>
        </p:nvSpPr>
        <p:spPr>
          <a:xfrm>
            <a:off x="4083351" y="2289572"/>
            <a:ext cx="913507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85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- Hub tecnológico</a:t>
            </a:r>
            <a:endParaRPr lang="en-US" sz="785" dirty="0"/>
          </a:p>
        </p:txBody>
      </p:sp>
      <p:sp>
        <p:nvSpPr>
          <p:cNvPr id="23" name="Text 20"/>
          <p:cNvSpPr/>
          <p:nvPr/>
        </p:nvSpPr>
        <p:spPr>
          <a:xfrm>
            <a:off x="3433744" y="2550319"/>
            <a:ext cx="360285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85" b="1" dirty="0">
                <a:solidFill>
                  <a:srgbClr val="0052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França</a:t>
            </a:r>
            <a:endParaRPr lang="en-US" sz="785" dirty="0"/>
          </a:p>
        </p:txBody>
      </p:sp>
      <p:sp>
        <p:nvSpPr>
          <p:cNvPr id="24" name="Text 21"/>
          <p:cNvSpPr/>
          <p:nvPr/>
        </p:nvSpPr>
        <p:spPr>
          <a:xfrm>
            <a:off x="3794029" y="2550319"/>
            <a:ext cx="1121736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85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- Mercado estratégico</a:t>
            </a:r>
            <a:endParaRPr lang="en-US" sz="785" dirty="0"/>
          </a:p>
        </p:txBody>
      </p:sp>
      <p:sp>
        <p:nvSpPr>
          <p:cNvPr id="25" name="Text 22"/>
          <p:cNvSpPr/>
          <p:nvPr/>
        </p:nvSpPr>
        <p:spPr>
          <a:xfrm>
            <a:off x="6095991" y="1057275"/>
            <a:ext cx="2619356" cy="300038"/>
          </a:xfrm>
          <a:prstGeom prst="rect">
            <a:avLst/>
          </a:prstGeom>
          <a:noFill/>
          <a:ln/>
        </p:spPr>
        <p:txBody>
          <a:bodyPr wrap="square" lIns="0" tIns="0" rIns="0" bIns="102108" rtlCol="0" anchor="ctr">
            <a:spAutoFit/>
          </a:bodyPr>
          <a:lstStyle/>
          <a:p>
            <a:pPr marL="0" indent="0">
              <a:buNone/>
            </a:pPr>
            <a:r>
              <a:rPr lang="en-US" sz="942" b="1" dirty="0">
                <a:solidFill>
                  <a:srgbClr val="0052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Tamanho das Empresas</a:t>
            </a:r>
            <a:endParaRPr lang="en-US" sz="942" dirty="0"/>
          </a:p>
        </p:txBody>
      </p:sp>
      <p:sp>
        <p:nvSpPr>
          <p:cNvPr id="26" name="Text 23"/>
          <p:cNvSpPr/>
          <p:nvPr/>
        </p:nvSpPr>
        <p:spPr>
          <a:xfrm>
            <a:off x="6267441" y="1507331"/>
            <a:ext cx="776994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85" b="1" dirty="0">
                <a:solidFill>
                  <a:srgbClr val="0052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Foco Principal:</a:t>
            </a:r>
            <a:endParaRPr lang="en-US" sz="785" dirty="0"/>
          </a:p>
        </p:txBody>
      </p:sp>
      <p:sp>
        <p:nvSpPr>
          <p:cNvPr id="27" name="Text 24"/>
          <p:cNvSpPr/>
          <p:nvPr/>
        </p:nvSpPr>
        <p:spPr>
          <a:xfrm>
            <a:off x="7044435" y="1507331"/>
            <a:ext cx="1554100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85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Empresas Grande a Enterprise</a:t>
            </a:r>
            <a:endParaRPr lang="en-US" sz="785" dirty="0"/>
          </a:p>
        </p:txBody>
      </p:sp>
      <p:sp>
        <p:nvSpPr>
          <p:cNvPr id="28" name="Text 25"/>
          <p:cNvSpPr/>
          <p:nvPr/>
        </p:nvSpPr>
        <p:spPr>
          <a:xfrm>
            <a:off x="6267441" y="1768078"/>
            <a:ext cx="585955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85" b="1" dirty="0">
                <a:solidFill>
                  <a:srgbClr val="0052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1.001-5.000</a:t>
            </a:r>
            <a:endParaRPr lang="en-US" sz="785" dirty="0"/>
          </a:p>
        </p:txBody>
      </p:sp>
      <p:sp>
        <p:nvSpPr>
          <p:cNvPr id="29" name="Text 26"/>
          <p:cNvSpPr/>
          <p:nvPr/>
        </p:nvSpPr>
        <p:spPr>
          <a:xfrm>
            <a:off x="6853396" y="1768078"/>
            <a:ext cx="655495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85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funcionários</a:t>
            </a:r>
            <a:endParaRPr lang="en-US" sz="785" dirty="0"/>
          </a:p>
        </p:txBody>
      </p:sp>
      <p:sp>
        <p:nvSpPr>
          <p:cNvPr id="30" name="Text 27"/>
          <p:cNvSpPr/>
          <p:nvPr/>
        </p:nvSpPr>
        <p:spPr>
          <a:xfrm>
            <a:off x="6267441" y="2028825"/>
            <a:ext cx="398320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85" b="1" dirty="0">
                <a:solidFill>
                  <a:srgbClr val="0052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10.001+</a:t>
            </a:r>
            <a:endParaRPr lang="en-US" sz="785" dirty="0"/>
          </a:p>
        </p:txBody>
      </p:sp>
      <p:sp>
        <p:nvSpPr>
          <p:cNvPr id="31" name="Text 28"/>
          <p:cNvSpPr/>
          <p:nvPr/>
        </p:nvSpPr>
        <p:spPr>
          <a:xfrm>
            <a:off x="6665761" y="2028825"/>
            <a:ext cx="655495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85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funcionários</a:t>
            </a:r>
            <a:endParaRPr lang="en-US" sz="785" dirty="0"/>
          </a:p>
        </p:txBody>
      </p:sp>
      <p:sp>
        <p:nvSpPr>
          <p:cNvPr id="32" name="Text 29"/>
          <p:cNvSpPr/>
          <p:nvPr/>
        </p:nvSpPr>
        <p:spPr>
          <a:xfrm>
            <a:off x="6095991" y="2282428"/>
            <a:ext cx="2619356" cy="160734"/>
          </a:xfrm>
          <a:prstGeom prst="rect">
            <a:avLst/>
          </a:prstGeom>
          <a:noFill/>
          <a:ln/>
        </p:spPr>
        <p:txBody>
          <a:bodyPr wrap="none" lIns="204089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85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Capacidade de investimento em segurança</a:t>
            </a:r>
            <a:endParaRPr lang="en-US" sz="785" dirty="0"/>
          </a:p>
        </p:txBody>
      </p:sp>
      <p:sp>
        <p:nvSpPr>
          <p:cNvPr id="33" name="Text 30"/>
          <p:cNvSpPr/>
          <p:nvPr/>
        </p:nvSpPr>
        <p:spPr>
          <a:xfrm>
            <a:off x="6095991" y="2543175"/>
            <a:ext cx="2619356" cy="160734"/>
          </a:xfrm>
          <a:prstGeom prst="rect">
            <a:avLst/>
          </a:prstGeom>
          <a:noFill/>
          <a:ln/>
        </p:spPr>
        <p:txBody>
          <a:bodyPr wrap="none" lIns="204089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85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Necessidade de soluções escaláveis</a:t>
            </a:r>
            <a:endParaRPr lang="en-US" sz="78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55482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28625"/>
            <a:ext cx="828675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052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Comportamento e Qualidade de Dados: Otimizando a Abordagem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428625" y="1057275"/>
            <a:ext cx="4000500" cy="278606"/>
          </a:xfrm>
          <a:prstGeom prst="rect">
            <a:avLst/>
          </a:prstGeom>
          <a:noFill/>
          <a:ln/>
        </p:spPr>
        <p:txBody>
          <a:bodyPr wrap="none" lIns="0" tIns="0" rIns="0" bIns="85090" rtlCol="0" anchor="ctr">
            <a:spAutoFit/>
          </a:bodyPr>
          <a:lstStyle/>
          <a:p>
            <a:pPr marL="0" indent="0">
              <a:buNone/>
            </a:pPr>
            <a:r>
              <a:rPr lang="en-US" sz="942" b="1" dirty="0">
                <a:solidFill>
                  <a:srgbClr val="0052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Presença em Redes Sociais</a:t>
            </a:r>
            <a:endParaRPr lang="en-US" sz="942" dirty="0"/>
          </a:p>
        </p:txBody>
      </p:sp>
      <p:sp>
        <p:nvSpPr>
          <p:cNvPr id="5" name="Shape 2"/>
          <p:cNvSpPr/>
          <p:nvPr/>
        </p:nvSpPr>
        <p:spPr>
          <a:xfrm>
            <a:off x="428625" y="1478756"/>
            <a:ext cx="4000500" cy="718617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Shape 3"/>
          <p:cNvSpPr/>
          <p:nvPr/>
        </p:nvSpPr>
        <p:spPr>
          <a:xfrm>
            <a:off x="428625" y="1478756"/>
            <a:ext cx="28575" cy="718617"/>
          </a:xfrm>
          <a:prstGeom prst="rect">
            <a:avLst/>
          </a:prstGeom>
          <a:solidFill>
            <a:srgbClr val="1E88E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4"/>
          <p:cNvSpPr/>
          <p:nvPr/>
        </p:nvSpPr>
        <p:spPr>
          <a:xfrm>
            <a:off x="535781" y="1585913"/>
            <a:ext cx="378618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5" b="1" dirty="0">
                <a:solidFill>
                  <a:srgbClr val="0052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LinkedIn como Canal Estratégico</a:t>
            </a:r>
            <a:endParaRPr lang="en-US" sz="785" dirty="0"/>
          </a:p>
        </p:txBody>
      </p:sp>
      <p:sp>
        <p:nvSpPr>
          <p:cNvPr id="8" name="Text 5"/>
          <p:cNvSpPr/>
          <p:nvPr/>
        </p:nvSpPr>
        <p:spPr>
          <a:xfrm>
            <a:off x="535781" y="1793081"/>
            <a:ext cx="3786188" cy="2971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80" dirty="0">
                <a:solidFill>
                  <a:srgbClr val="6666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Alta relevância para decisores de alto nível (C-Levels, Diretores). Permite engajamento direto com líderes técnicos.</a:t>
            </a:r>
            <a:endParaRPr lang="en-US" sz="680" dirty="0"/>
          </a:p>
        </p:txBody>
      </p:sp>
      <p:sp>
        <p:nvSpPr>
          <p:cNvPr id="9" name="Shape 6"/>
          <p:cNvSpPr/>
          <p:nvPr/>
        </p:nvSpPr>
        <p:spPr>
          <a:xfrm>
            <a:off x="428625" y="2304529"/>
            <a:ext cx="4000500" cy="718617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Shape 7"/>
          <p:cNvSpPr/>
          <p:nvPr/>
        </p:nvSpPr>
        <p:spPr>
          <a:xfrm>
            <a:off x="428625" y="2304529"/>
            <a:ext cx="28575" cy="718617"/>
          </a:xfrm>
          <a:prstGeom prst="rect">
            <a:avLst/>
          </a:prstGeom>
          <a:solidFill>
            <a:srgbClr val="1E88E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8"/>
          <p:cNvSpPr/>
          <p:nvPr/>
        </p:nvSpPr>
        <p:spPr>
          <a:xfrm>
            <a:off x="535781" y="2411685"/>
            <a:ext cx="378618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5" b="1" dirty="0">
                <a:solidFill>
                  <a:srgbClr val="0052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Segmentação por Senioridade</a:t>
            </a:r>
            <a:endParaRPr lang="en-US" sz="785" dirty="0"/>
          </a:p>
        </p:txBody>
      </p:sp>
      <p:sp>
        <p:nvSpPr>
          <p:cNvPr id="12" name="Text 9"/>
          <p:cNvSpPr/>
          <p:nvPr/>
        </p:nvSpPr>
        <p:spPr>
          <a:xfrm>
            <a:off x="535781" y="2618854"/>
            <a:ext cx="3786188" cy="2971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80" dirty="0">
                <a:solidFill>
                  <a:srgbClr val="6666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Diferentes níveis hierárquicos apresentam comportamentos digitais distintos. Abordagens devem ser adaptadas por cargo.</a:t>
            </a:r>
            <a:endParaRPr lang="en-US" sz="680" dirty="0"/>
          </a:p>
        </p:txBody>
      </p:sp>
      <p:sp>
        <p:nvSpPr>
          <p:cNvPr id="13" name="Shape 10"/>
          <p:cNvSpPr/>
          <p:nvPr/>
        </p:nvSpPr>
        <p:spPr>
          <a:xfrm>
            <a:off x="428625" y="3130302"/>
            <a:ext cx="4000500" cy="718617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Shape 11"/>
          <p:cNvSpPr/>
          <p:nvPr/>
        </p:nvSpPr>
        <p:spPr>
          <a:xfrm>
            <a:off x="428625" y="3130302"/>
            <a:ext cx="28575" cy="718617"/>
          </a:xfrm>
          <a:prstGeom prst="rect">
            <a:avLst/>
          </a:prstGeom>
          <a:solidFill>
            <a:srgbClr val="1E88E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2"/>
          <p:cNvSpPr/>
          <p:nvPr/>
        </p:nvSpPr>
        <p:spPr>
          <a:xfrm>
            <a:off x="535781" y="3237458"/>
            <a:ext cx="378618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5" b="1" dirty="0">
                <a:solidFill>
                  <a:srgbClr val="0052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Oportunidades de Social Selling</a:t>
            </a:r>
            <a:endParaRPr lang="en-US" sz="785" dirty="0"/>
          </a:p>
        </p:txBody>
      </p:sp>
      <p:sp>
        <p:nvSpPr>
          <p:cNvPr id="16" name="Text 13"/>
          <p:cNvSpPr/>
          <p:nvPr/>
        </p:nvSpPr>
        <p:spPr>
          <a:xfrm>
            <a:off x="535781" y="3444627"/>
            <a:ext cx="3786188" cy="2971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80" dirty="0">
                <a:solidFill>
                  <a:srgbClr val="6666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Potencial para campanhas direcionadas em LinkedIn para empresas de grande porte na Europa.</a:t>
            </a:r>
            <a:endParaRPr lang="en-US" sz="680" dirty="0"/>
          </a:p>
        </p:txBody>
      </p:sp>
      <p:sp>
        <p:nvSpPr>
          <p:cNvPr id="17" name="Text 14"/>
          <p:cNvSpPr/>
          <p:nvPr/>
        </p:nvSpPr>
        <p:spPr>
          <a:xfrm>
            <a:off x="4714875" y="1057275"/>
            <a:ext cx="4000500" cy="278606"/>
          </a:xfrm>
          <a:prstGeom prst="rect">
            <a:avLst/>
          </a:prstGeom>
          <a:noFill/>
          <a:ln/>
        </p:spPr>
        <p:txBody>
          <a:bodyPr wrap="none" lIns="0" tIns="0" rIns="0" bIns="85090" rtlCol="0" anchor="ctr">
            <a:spAutoFit/>
          </a:bodyPr>
          <a:lstStyle/>
          <a:p>
            <a:pPr marL="0" indent="0">
              <a:buNone/>
            </a:pPr>
            <a:r>
              <a:rPr lang="en-US" sz="942" b="1" dirty="0">
                <a:solidFill>
                  <a:srgbClr val="0052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Qualidade de Dados por Setor</a:t>
            </a:r>
            <a:endParaRPr lang="en-US" sz="942" dirty="0"/>
          </a:p>
        </p:txBody>
      </p:sp>
      <p:sp>
        <p:nvSpPr>
          <p:cNvPr id="18" name="Shape 15"/>
          <p:cNvSpPr/>
          <p:nvPr/>
        </p:nvSpPr>
        <p:spPr>
          <a:xfrm>
            <a:off x="4714875" y="1478756"/>
            <a:ext cx="4000500" cy="718617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Shape 16"/>
          <p:cNvSpPr/>
          <p:nvPr/>
        </p:nvSpPr>
        <p:spPr>
          <a:xfrm>
            <a:off x="4714875" y="1478756"/>
            <a:ext cx="28575" cy="718617"/>
          </a:xfrm>
          <a:prstGeom prst="rect">
            <a:avLst/>
          </a:prstGeom>
          <a:solidFill>
            <a:srgbClr val="1E88E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Text 17"/>
          <p:cNvSpPr/>
          <p:nvPr/>
        </p:nvSpPr>
        <p:spPr>
          <a:xfrm>
            <a:off x="4822031" y="1585913"/>
            <a:ext cx="378618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5" b="1" dirty="0">
                <a:solidFill>
                  <a:srgbClr val="0052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Serviços Financeiros</a:t>
            </a:r>
            <a:endParaRPr lang="en-US" sz="785" dirty="0"/>
          </a:p>
        </p:txBody>
      </p:sp>
      <p:sp>
        <p:nvSpPr>
          <p:cNvPr id="21" name="Text 18"/>
          <p:cNvSpPr/>
          <p:nvPr/>
        </p:nvSpPr>
        <p:spPr>
          <a:xfrm>
            <a:off x="4822031" y="1793081"/>
            <a:ext cx="3786188" cy="2971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80" dirty="0">
                <a:solidFill>
                  <a:srgbClr val="6666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Maior qualidade de dados de e-mail. Prioridade alta para campanhas de email marketing.</a:t>
            </a:r>
            <a:endParaRPr lang="en-US" sz="680" dirty="0"/>
          </a:p>
        </p:txBody>
      </p:sp>
      <p:sp>
        <p:nvSpPr>
          <p:cNvPr id="22" name="Shape 19"/>
          <p:cNvSpPr/>
          <p:nvPr/>
        </p:nvSpPr>
        <p:spPr>
          <a:xfrm>
            <a:off x="4714875" y="2304529"/>
            <a:ext cx="4000500" cy="570049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" name="Shape 20"/>
          <p:cNvSpPr/>
          <p:nvPr/>
        </p:nvSpPr>
        <p:spPr>
          <a:xfrm>
            <a:off x="4714875" y="2304529"/>
            <a:ext cx="28575" cy="570049"/>
          </a:xfrm>
          <a:prstGeom prst="rect">
            <a:avLst/>
          </a:prstGeom>
          <a:solidFill>
            <a:srgbClr val="1E88E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4" name="Text 21"/>
          <p:cNvSpPr/>
          <p:nvPr/>
        </p:nvSpPr>
        <p:spPr>
          <a:xfrm>
            <a:off x="4822031" y="2411685"/>
            <a:ext cx="378618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5" b="1" dirty="0">
                <a:solidFill>
                  <a:srgbClr val="0052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Desenvolvimento de Software</a:t>
            </a:r>
            <a:endParaRPr lang="en-US" sz="785" dirty="0"/>
          </a:p>
        </p:txBody>
      </p:sp>
      <p:sp>
        <p:nvSpPr>
          <p:cNvPr id="25" name="Text 22"/>
          <p:cNvSpPr/>
          <p:nvPr/>
        </p:nvSpPr>
        <p:spPr>
          <a:xfrm>
            <a:off x="4822031" y="2618854"/>
            <a:ext cx="3786188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80" dirty="0">
                <a:solidFill>
                  <a:srgbClr val="6666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Forte presença em redes sociais. Ideal para abordagem multicanal (email + LinkedIn).</a:t>
            </a:r>
            <a:endParaRPr lang="en-US" sz="680" dirty="0"/>
          </a:p>
        </p:txBody>
      </p:sp>
      <p:sp>
        <p:nvSpPr>
          <p:cNvPr id="26" name="Shape 23"/>
          <p:cNvSpPr/>
          <p:nvPr/>
        </p:nvSpPr>
        <p:spPr>
          <a:xfrm>
            <a:off x="4714875" y="2981734"/>
            <a:ext cx="4000500" cy="718617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7" name="Shape 24"/>
          <p:cNvSpPr/>
          <p:nvPr/>
        </p:nvSpPr>
        <p:spPr>
          <a:xfrm>
            <a:off x="4714875" y="2981734"/>
            <a:ext cx="28575" cy="718617"/>
          </a:xfrm>
          <a:prstGeom prst="rect">
            <a:avLst/>
          </a:prstGeom>
          <a:solidFill>
            <a:srgbClr val="1E88E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8" name="Text 25"/>
          <p:cNvSpPr/>
          <p:nvPr/>
        </p:nvSpPr>
        <p:spPr>
          <a:xfrm>
            <a:off x="4822031" y="3088891"/>
            <a:ext cx="378618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5" b="1" dirty="0">
                <a:solidFill>
                  <a:srgbClr val="0052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Matriz de Confiança</a:t>
            </a:r>
            <a:endParaRPr lang="en-US" sz="785" dirty="0"/>
          </a:p>
        </p:txBody>
      </p:sp>
      <p:sp>
        <p:nvSpPr>
          <p:cNvPr id="29" name="Text 26"/>
          <p:cNvSpPr/>
          <p:nvPr/>
        </p:nvSpPr>
        <p:spPr>
          <a:xfrm>
            <a:off x="4822031" y="3296059"/>
            <a:ext cx="3786188" cy="2971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80" dirty="0">
                <a:solidFill>
                  <a:srgbClr val="6666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Heatmap mostrando nível de confiança do e-mail por setor. Permite priorização de setores com dados mais confiáveis.</a:t>
            </a:r>
            <a:endParaRPr lang="en-US" sz="680" dirty="0"/>
          </a:p>
        </p:txBody>
      </p:sp>
      <p:sp>
        <p:nvSpPr>
          <p:cNvPr id="30" name="Shape 27"/>
          <p:cNvSpPr/>
          <p:nvPr/>
        </p:nvSpPr>
        <p:spPr>
          <a:xfrm>
            <a:off x="428625" y="4277544"/>
            <a:ext cx="8286750" cy="848655"/>
          </a:xfrm>
          <a:prstGeom prst="rect">
            <a:avLst/>
          </a:prstGeom>
          <a:solidFill>
            <a:srgbClr val="1E88E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1" name="Text 28"/>
          <p:cNvSpPr/>
          <p:nvPr/>
        </p:nvSpPr>
        <p:spPr>
          <a:xfrm>
            <a:off x="571500" y="4420419"/>
            <a:ext cx="80010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5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💡 Insight Acionável:</a:t>
            </a:r>
            <a:endParaRPr lang="en-US" sz="785" dirty="0"/>
          </a:p>
        </p:txBody>
      </p:sp>
      <p:sp>
        <p:nvSpPr>
          <p:cNvPr id="32" name="Text 29"/>
          <p:cNvSpPr/>
          <p:nvPr/>
        </p:nvSpPr>
        <p:spPr>
          <a:xfrm>
            <a:off x="571500" y="4674022"/>
            <a:ext cx="55707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"O setor de </a:t>
            </a:r>
            <a:endParaRPr lang="en-US" sz="732" dirty="0"/>
          </a:p>
        </p:txBody>
      </p:sp>
      <p:sp>
        <p:nvSpPr>
          <p:cNvPr id="33" name="Shape 30"/>
          <p:cNvSpPr/>
          <p:nvPr/>
        </p:nvSpPr>
        <p:spPr>
          <a:xfrm>
            <a:off x="1128573" y="4659734"/>
            <a:ext cx="1095059" cy="164306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4" name="Text 31"/>
          <p:cNvSpPr/>
          <p:nvPr/>
        </p:nvSpPr>
        <p:spPr>
          <a:xfrm>
            <a:off x="1128573" y="4659734"/>
            <a:ext cx="1095059" cy="164306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ctr">
            <a:spAutoFit/>
          </a:bodyPr>
          <a:lstStyle/>
          <a:p>
            <a:pPr marL="0" indent="0">
              <a:buNone/>
            </a:pPr>
            <a:r>
              <a:rPr lang="en-US" sz="732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Serviços Financeiros</a:t>
            </a:r>
            <a:endParaRPr lang="en-US" sz="732" dirty="0"/>
          </a:p>
        </p:txBody>
      </p:sp>
      <p:sp>
        <p:nvSpPr>
          <p:cNvPr id="35" name="Text 32"/>
          <p:cNvSpPr/>
          <p:nvPr/>
        </p:nvSpPr>
        <p:spPr>
          <a:xfrm>
            <a:off x="2223632" y="4674022"/>
            <a:ext cx="604757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tem a maior qualidade de dados de email, então campanhas de email marketing devem ter alta prioridade lá. Simultaneamente, </a:t>
            </a:r>
            <a:endParaRPr lang="en-US" sz="732" dirty="0"/>
          </a:p>
        </p:txBody>
      </p:sp>
      <p:sp>
        <p:nvSpPr>
          <p:cNvPr id="36" name="Shape 33"/>
          <p:cNvSpPr/>
          <p:nvPr/>
        </p:nvSpPr>
        <p:spPr>
          <a:xfrm>
            <a:off x="571500" y="4819743"/>
            <a:ext cx="1580527" cy="164306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7" name="Text 34"/>
          <p:cNvSpPr/>
          <p:nvPr/>
        </p:nvSpPr>
        <p:spPr>
          <a:xfrm>
            <a:off x="571500" y="4819743"/>
            <a:ext cx="1580527" cy="164306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ctr">
            <a:spAutoFit/>
          </a:bodyPr>
          <a:lstStyle/>
          <a:p>
            <a:pPr marL="0" indent="0">
              <a:buNone/>
            </a:pPr>
            <a:r>
              <a:rPr lang="en-US" sz="732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Desenvolvimento de Software</a:t>
            </a:r>
            <a:endParaRPr lang="en-US" sz="732" dirty="0"/>
          </a:p>
        </p:txBody>
      </p:sp>
      <p:sp>
        <p:nvSpPr>
          <p:cNvPr id="38" name="Text 35"/>
          <p:cNvSpPr/>
          <p:nvPr/>
        </p:nvSpPr>
        <p:spPr>
          <a:xfrm>
            <a:off x="2152027" y="4834031"/>
            <a:ext cx="448488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apresenta forte presença no LinkedIn, indicando oportunidade para social selling direcionado."</a:t>
            </a:r>
            <a:endParaRPr lang="en-US" sz="732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715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28625"/>
            <a:ext cx="828675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052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Insights Estratégicos e Recomendações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428625" y="1057275"/>
            <a:ext cx="4000500" cy="278606"/>
          </a:xfrm>
          <a:prstGeom prst="rect">
            <a:avLst/>
          </a:prstGeom>
          <a:noFill/>
          <a:ln/>
        </p:spPr>
        <p:txBody>
          <a:bodyPr wrap="none" lIns="0" tIns="0" rIns="0" bIns="85090" rtlCol="0" anchor="ctr">
            <a:spAutoFit/>
          </a:bodyPr>
          <a:lstStyle/>
          <a:p>
            <a:pPr marL="0" indent="0">
              <a:buNone/>
            </a:pPr>
            <a:r>
              <a:rPr lang="en-US" sz="942" b="1" dirty="0">
                <a:solidFill>
                  <a:srgbClr val="0052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Identificação do Público-Alvo</a:t>
            </a:r>
            <a:endParaRPr lang="en-US" sz="942" dirty="0"/>
          </a:p>
        </p:txBody>
      </p:sp>
      <p:sp>
        <p:nvSpPr>
          <p:cNvPr id="5" name="Shape 2"/>
          <p:cNvSpPr/>
          <p:nvPr/>
        </p:nvSpPr>
        <p:spPr>
          <a:xfrm>
            <a:off x="428625" y="1478756"/>
            <a:ext cx="4000500" cy="889397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Shape 3"/>
          <p:cNvSpPr/>
          <p:nvPr/>
        </p:nvSpPr>
        <p:spPr>
          <a:xfrm>
            <a:off x="428625" y="1478756"/>
            <a:ext cx="28575" cy="889397"/>
          </a:xfrm>
          <a:prstGeom prst="rect">
            <a:avLst/>
          </a:prstGeom>
          <a:solidFill>
            <a:srgbClr val="1E88E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4"/>
          <p:cNvSpPr/>
          <p:nvPr/>
        </p:nvSpPr>
        <p:spPr>
          <a:xfrm>
            <a:off x="571500" y="1621631"/>
            <a:ext cx="3714750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80" b="1" dirty="0">
                <a:solidFill>
                  <a:srgbClr val="0052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Perfil Ideal</a:t>
            </a:r>
            <a:endParaRPr lang="en-US" sz="680" dirty="0"/>
          </a:p>
        </p:txBody>
      </p:sp>
      <p:sp>
        <p:nvSpPr>
          <p:cNvPr id="8" name="Text 5"/>
          <p:cNvSpPr/>
          <p:nvPr/>
        </p:nvSpPr>
        <p:spPr>
          <a:xfrm>
            <a:off x="571500" y="1796653"/>
            <a:ext cx="3714750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5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Líderes técnicos de médio e alto escalão em empresas de tecnologia europeias de grande porte.</a:t>
            </a:r>
            <a:endParaRPr lang="en-US" sz="785" dirty="0"/>
          </a:p>
        </p:txBody>
      </p:sp>
      <p:sp>
        <p:nvSpPr>
          <p:cNvPr id="9" name="Shape 6"/>
          <p:cNvSpPr/>
          <p:nvPr/>
        </p:nvSpPr>
        <p:spPr>
          <a:xfrm>
            <a:off x="428625" y="2511028"/>
            <a:ext cx="4000500" cy="728663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Shape 7"/>
          <p:cNvSpPr/>
          <p:nvPr/>
        </p:nvSpPr>
        <p:spPr>
          <a:xfrm>
            <a:off x="428625" y="2511028"/>
            <a:ext cx="28575" cy="728663"/>
          </a:xfrm>
          <a:prstGeom prst="rect">
            <a:avLst/>
          </a:prstGeom>
          <a:solidFill>
            <a:srgbClr val="1E88E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8"/>
          <p:cNvSpPr/>
          <p:nvPr/>
        </p:nvSpPr>
        <p:spPr>
          <a:xfrm>
            <a:off x="571500" y="2653903"/>
            <a:ext cx="3714750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80" b="1" dirty="0">
                <a:solidFill>
                  <a:srgbClr val="0052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Cargos Principais</a:t>
            </a:r>
            <a:endParaRPr lang="en-US" sz="680" dirty="0"/>
          </a:p>
        </p:txBody>
      </p:sp>
      <p:sp>
        <p:nvSpPr>
          <p:cNvPr id="12" name="Text 9"/>
          <p:cNvSpPr/>
          <p:nvPr/>
        </p:nvSpPr>
        <p:spPr>
          <a:xfrm>
            <a:off x="571500" y="2828925"/>
            <a:ext cx="3714750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5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CTOs, Heads of IT, Gerentes de TI e Engenharia</a:t>
            </a:r>
            <a:endParaRPr lang="en-US" sz="785" dirty="0"/>
          </a:p>
        </p:txBody>
      </p:sp>
      <p:sp>
        <p:nvSpPr>
          <p:cNvPr id="13" name="Shape 10"/>
          <p:cNvSpPr/>
          <p:nvPr/>
        </p:nvSpPr>
        <p:spPr>
          <a:xfrm>
            <a:off x="428625" y="3382566"/>
            <a:ext cx="4000500" cy="889397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Shape 11"/>
          <p:cNvSpPr/>
          <p:nvPr/>
        </p:nvSpPr>
        <p:spPr>
          <a:xfrm>
            <a:off x="428625" y="3382566"/>
            <a:ext cx="28575" cy="889397"/>
          </a:xfrm>
          <a:prstGeom prst="rect">
            <a:avLst/>
          </a:prstGeom>
          <a:solidFill>
            <a:srgbClr val="1E88E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2"/>
          <p:cNvSpPr/>
          <p:nvPr/>
        </p:nvSpPr>
        <p:spPr>
          <a:xfrm>
            <a:off x="571500" y="3525441"/>
            <a:ext cx="3714750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80" b="1" dirty="0">
                <a:solidFill>
                  <a:srgbClr val="0052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Setores Prioritários</a:t>
            </a:r>
            <a:endParaRPr lang="en-US" sz="680" dirty="0"/>
          </a:p>
        </p:txBody>
      </p:sp>
      <p:sp>
        <p:nvSpPr>
          <p:cNvPr id="16" name="Text 13"/>
          <p:cNvSpPr/>
          <p:nvPr/>
        </p:nvSpPr>
        <p:spPr>
          <a:xfrm>
            <a:off x="571500" y="3700463"/>
            <a:ext cx="3714750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5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Desenvolvimento de Software, Internet/Serviços Online e Segurança de Dados</a:t>
            </a:r>
            <a:endParaRPr lang="en-US" sz="785" dirty="0"/>
          </a:p>
        </p:txBody>
      </p:sp>
      <p:sp>
        <p:nvSpPr>
          <p:cNvPr id="17" name="Shape 14"/>
          <p:cNvSpPr/>
          <p:nvPr/>
        </p:nvSpPr>
        <p:spPr>
          <a:xfrm>
            <a:off x="428625" y="4414838"/>
            <a:ext cx="4000500" cy="728663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Shape 15"/>
          <p:cNvSpPr/>
          <p:nvPr/>
        </p:nvSpPr>
        <p:spPr>
          <a:xfrm>
            <a:off x="428625" y="4414838"/>
            <a:ext cx="28575" cy="728663"/>
          </a:xfrm>
          <a:prstGeom prst="rect">
            <a:avLst/>
          </a:prstGeom>
          <a:solidFill>
            <a:srgbClr val="1E88E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Text 16"/>
          <p:cNvSpPr/>
          <p:nvPr/>
        </p:nvSpPr>
        <p:spPr>
          <a:xfrm>
            <a:off x="571500" y="4557713"/>
            <a:ext cx="3714750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80" b="1" dirty="0">
                <a:solidFill>
                  <a:srgbClr val="0052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Porte da Empresa</a:t>
            </a:r>
            <a:endParaRPr lang="en-US" sz="680" dirty="0"/>
          </a:p>
        </p:txBody>
      </p:sp>
      <p:sp>
        <p:nvSpPr>
          <p:cNvPr id="20" name="Text 17"/>
          <p:cNvSpPr/>
          <p:nvPr/>
        </p:nvSpPr>
        <p:spPr>
          <a:xfrm>
            <a:off x="571500" y="4739878"/>
            <a:ext cx="1065479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5" b="1" dirty="0">
                <a:solidFill>
                  <a:srgbClr val="0052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Grande a Enterprise</a:t>
            </a:r>
            <a:endParaRPr lang="en-US" sz="785" dirty="0"/>
          </a:p>
        </p:txBody>
      </p:sp>
      <p:sp>
        <p:nvSpPr>
          <p:cNvPr id="21" name="Text 18"/>
          <p:cNvSpPr/>
          <p:nvPr/>
        </p:nvSpPr>
        <p:spPr>
          <a:xfrm>
            <a:off x="1636979" y="4739878"/>
            <a:ext cx="1054122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5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(1001+ funcionários)</a:t>
            </a:r>
            <a:endParaRPr lang="en-US" sz="785" dirty="0"/>
          </a:p>
        </p:txBody>
      </p:sp>
      <p:sp>
        <p:nvSpPr>
          <p:cNvPr id="22" name="Text 19"/>
          <p:cNvSpPr/>
          <p:nvPr/>
        </p:nvSpPr>
        <p:spPr>
          <a:xfrm>
            <a:off x="4714875" y="1057275"/>
            <a:ext cx="4000500" cy="278606"/>
          </a:xfrm>
          <a:prstGeom prst="rect">
            <a:avLst/>
          </a:prstGeom>
          <a:noFill/>
          <a:ln/>
        </p:spPr>
        <p:txBody>
          <a:bodyPr wrap="none" lIns="0" tIns="0" rIns="0" bIns="85090" rtlCol="0" anchor="ctr">
            <a:spAutoFit/>
          </a:bodyPr>
          <a:lstStyle/>
          <a:p>
            <a:pPr marL="0" indent="0">
              <a:buNone/>
            </a:pPr>
            <a:r>
              <a:rPr lang="en-US" sz="942" b="1" dirty="0">
                <a:solidFill>
                  <a:srgbClr val="0052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Sugestões de Posicionamento</a:t>
            </a:r>
            <a:endParaRPr lang="en-US" sz="942" dirty="0"/>
          </a:p>
        </p:txBody>
      </p:sp>
      <p:sp>
        <p:nvSpPr>
          <p:cNvPr id="23" name="Shape 20"/>
          <p:cNvSpPr/>
          <p:nvPr/>
        </p:nvSpPr>
        <p:spPr>
          <a:xfrm>
            <a:off x="4714875" y="1478756"/>
            <a:ext cx="4000500" cy="767953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4" name="Shape 21"/>
          <p:cNvSpPr/>
          <p:nvPr/>
        </p:nvSpPr>
        <p:spPr>
          <a:xfrm>
            <a:off x="4714875" y="1478756"/>
            <a:ext cx="28575" cy="767953"/>
          </a:xfrm>
          <a:prstGeom prst="rect">
            <a:avLst/>
          </a:prstGeom>
          <a:solidFill>
            <a:srgbClr val="1E88E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5" name="Shape 22"/>
          <p:cNvSpPr/>
          <p:nvPr/>
        </p:nvSpPr>
        <p:spPr>
          <a:xfrm>
            <a:off x="4822031" y="1585913"/>
            <a:ext cx="200025" cy="200025"/>
          </a:xfrm>
          <a:prstGeom prst="ellipse">
            <a:avLst/>
          </a:prstGeom>
          <a:solidFill>
            <a:srgbClr val="1E88E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6" name="Text 23"/>
          <p:cNvSpPr/>
          <p:nvPr/>
        </p:nvSpPr>
        <p:spPr>
          <a:xfrm>
            <a:off x="4822031" y="1585913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732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</a:t>
            </a:r>
            <a:endParaRPr lang="en-US" sz="732" dirty="0"/>
          </a:p>
        </p:txBody>
      </p:sp>
      <p:sp>
        <p:nvSpPr>
          <p:cNvPr id="27" name="Text 24"/>
          <p:cNvSpPr/>
          <p:nvPr/>
        </p:nvSpPr>
        <p:spPr>
          <a:xfrm>
            <a:off x="5078321" y="1605558"/>
            <a:ext cx="3786188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5" b="1" dirty="0">
                <a:solidFill>
                  <a:srgbClr val="0052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Posicionamento Enterprise</a:t>
            </a:r>
            <a:endParaRPr lang="en-US" sz="785" dirty="0"/>
          </a:p>
        </p:txBody>
      </p:sp>
      <p:sp>
        <p:nvSpPr>
          <p:cNvPr id="28" name="Text 25"/>
          <p:cNvSpPr/>
          <p:nvPr/>
        </p:nvSpPr>
        <p:spPr>
          <a:xfrm>
            <a:off x="5093494" y="1839516"/>
            <a:ext cx="3514725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Oferecer a hCaptcha como uma solução escalável e segura para grandes corporações, com foco em confiabilidade e conformidade.</a:t>
            </a:r>
            <a:endParaRPr lang="en-US" sz="732" dirty="0"/>
          </a:p>
        </p:txBody>
      </p:sp>
      <p:sp>
        <p:nvSpPr>
          <p:cNvPr id="29" name="Shape 26"/>
          <p:cNvSpPr/>
          <p:nvPr/>
        </p:nvSpPr>
        <p:spPr>
          <a:xfrm>
            <a:off x="4714875" y="2389584"/>
            <a:ext cx="4000500" cy="767953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0" name="Shape 27"/>
          <p:cNvSpPr/>
          <p:nvPr/>
        </p:nvSpPr>
        <p:spPr>
          <a:xfrm>
            <a:off x="4714875" y="2389584"/>
            <a:ext cx="28575" cy="767953"/>
          </a:xfrm>
          <a:prstGeom prst="rect">
            <a:avLst/>
          </a:prstGeom>
          <a:solidFill>
            <a:srgbClr val="1E88E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1" name="Shape 28"/>
          <p:cNvSpPr/>
          <p:nvPr/>
        </p:nvSpPr>
        <p:spPr>
          <a:xfrm>
            <a:off x="4822031" y="2496741"/>
            <a:ext cx="200025" cy="200025"/>
          </a:xfrm>
          <a:prstGeom prst="ellipse">
            <a:avLst/>
          </a:prstGeom>
          <a:solidFill>
            <a:srgbClr val="1E88E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2" name="Text 29"/>
          <p:cNvSpPr/>
          <p:nvPr/>
        </p:nvSpPr>
        <p:spPr>
          <a:xfrm>
            <a:off x="4822031" y="2496741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732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</a:t>
            </a:r>
            <a:endParaRPr lang="en-US" sz="732" dirty="0"/>
          </a:p>
        </p:txBody>
      </p:sp>
      <p:sp>
        <p:nvSpPr>
          <p:cNvPr id="33" name="Text 30"/>
          <p:cNvSpPr/>
          <p:nvPr/>
        </p:nvSpPr>
        <p:spPr>
          <a:xfrm>
            <a:off x="5078321" y="2536032"/>
            <a:ext cx="3786188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5" b="1" dirty="0">
                <a:solidFill>
                  <a:srgbClr val="0052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Abordagem Multicanal</a:t>
            </a:r>
            <a:endParaRPr lang="en-US" sz="785" dirty="0"/>
          </a:p>
        </p:txBody>
      </p:sp>
      <p:sp>
        <p:nvSpPr>
          <p:cNvPr id="34" name="Text 31"/>
          <p:cNvSpPr/>
          <p:nvPr/>
        </p:nvSpPr>
        <p:spPr>
          <a:xfrm>
            <a:off x="5093494" y="2757488"/>
            <a:ext cx="88652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b="1" dirty="0">
                <a:solidFill>
                  <a:srgbClr val="0052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E-mail Marketing:</a:t>
            </a:r>
            <a:endParaRPr lang="en-US" sz="732" dirty="0"/>
          </a:p>
        </p:txBody>
      </p:sp>
      <p:sp>
        <p:nvSpPr>
          <p:cNvPr id="35" name="Text 32"/>
          <p:cNvSpPr/>
          <p:nvPr/>
        </p:nvSpPr>
        <p:spPr>
          <a:xfrm>
            <a:off x="5980016" y="2757488"/>
            <a:ext cx="1767129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Campanhas direcionadas em massa. </a:t>
            </a:r>
            <a:endParaRPr lang="en-US" sz="732" dirty="0"/>
          </a:p>
        </p:txBody>
      </p:sp>
      <p:sp>
        <p:nvSpPr>
          <p:cNvPr id="36" name="Text 33"/>
          <p:cNvSpPr/>
          <p:nvPr/>
        </p:nvSpPr>
        <p:spPr>
          <a:xfrm>
            <a:off x="5089810" y="2931887"/>
            <a:ext cx="67910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b="1" dirty="0">
                <a:solidFill>
                  <a:srgbClr val="0052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Social Selling:</a:t>
            </a:r>
            <a:endParaRPr lang="en-US" sz="732" dirty="0"/>
          </a:p>
        </p:txBody>
      </p:sp>
      <p:sp>
        <p:nvSpPr>
          <p:cNvPr id="37" name="Text 34"/>
          <p:cNvSpPr/>
          <p:nvPr/>
        </p:nvSpPr>
        <p:spPr>
          <a:xfrm>
            <a:off x="5980017" y="2930724"/>
            <a:ext cx="201026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LinkedIn para engajar C-Levels e Diretores.</a:t>
            </a:r>
            <a:endParaRPr lang="en-US" sz="732" dirty="0"/>
          </a:p>
        </p:txBody>
      </p:sp>
      <p:sp>
        <p:nvSpPr>
          <p:cNvPr id="38" name="Shape 35"/>
          <p:cNvSpPr/>
          <p:nvPr/>
        </p:nvSpPr>
        <p:spPr>
          <a:xfrm>
            <a:off x="4714875" y="3300413"/>
            <a:ext cx="4000500" cy="767953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9" name="Shape 36"/>
          <p:cNvSpPr/>
          <p:nvPr/>
        </p:nvSpPr>
        <p:spPr>
          <a:xfrm>
            <a:off x="4714875" y="3300413"/>
            <a:ext cx="28575" cy="767953"/>
          </a:xfrm>
          <a:prstGeom prst="rect">
            <a:avLst/>
          </a:prstGeom>
          <a:solidFill>
            <a:srgbClr val="1E88E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0" name="Shape 37"/>
          <p:cNvSpPr/>
          <p:nvPr/>
        </p:nvSpPr>
        <p:spPr>
          <a:xfrm>
            <a:off x="4822031" y="3407569"/>
            <a:ext cx="200025" cy="200025"/>
          </a:xfrm>
          <a:prstGeom prst="ellipse">
            <a:avLst/>
          </a:prstGeom>
          <a:solidFill>
            <a:srgbClr val="1E88E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1" name="Text 38"/>
          <p:cNvSpPr/>
          <p:nvPr/>
        </p:nvSpPr>
        <p:spPr>
          <a:xfrm>
            <a:off x="4822031" y="3407569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732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</a:t>
            </a:r>
            <a:endParaRPr lang="en-US" sz="732" dirty="0"/>
          </a:p>
        </p:txBody>
      </p:sp>
      <p:sp>
        <p:nvSpPr>
          <p:cNvPr id="42" name="Text 39"/>
          <p:cNvSpPr/>
          <p:nvPr/>
        </p:nvSpPr>
        <p:spPr>
          <a:xfrm>
            <a:off x="5067249" y="3445073"/>
            <a:ext cx="3786188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5" b="1" dirty="0">
                <a:solidFill>
                  <a:srgbClr val="0052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Expansão Geográfica Focada</a:t>
            </a:r>
            <a:endParaRPr lang="en-US" sz="785" dirty="0"/>
          </a:p>
        </p:txBody>
      </p:sp>
      <p:sp>
        <p:nvSpPr>
          <p:cNvPr id="43" name="Text 40"/>
          <p:cNvSpPr/>
          <p:nvPr/>
        </p:nvSpPr>
        <p:spPr>
          <a:xfrm>
            <a:off x="5093494" y="3668316"/>
            <a:ext cx="33586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b="1" dirty="0">
                <a:solidFill>
                  <a:srgbClr val="0052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Fase 1:</a:t>
            </a:r>
            <a:endParaRPr lang="en-US" sz="732" dirty="0"/>
          </a:p>
        </p:txBody>
      </p:sp>
      <p:sp>
        <p:nvSpPr>
          <p:cNvPr id="44" name="Text 41"/>
          <p:cNvSpPr/>
          <p:nvPr/>
        </p:nvSpPr>
        <p:spPr>
          <a:xfrm>
            <a:off x="5429362" y="3668316"/>
            <a:ext cx="163622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Alemanha, Espanha, Reino Unido. </a:t>
            </a:r>
            <a:endParaRPr lang="en-US" sz="732" dirty="0"/>
          </a:p>
        </p:txBody>
      </p:sp>
      <p:sp>
        <p:nvSpPr>
          <p:cNvPr id="45" name="Text 42"/>
          <p:cNvSpPr/>
          <p:nvPr/>
        </p:nvSpPr>
        <p:spPr>
          <a:xfrm>
            <a:off x="7065587" y="3668316"/>
            <a:ext cx="33586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b="1" dirty="0">
                <a:solidFill>
                  <a:srgbClr val="0052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Fase 2:</a:t>
            </a:r>
            <a:endParaRPr lang="en-US" sz="732" dirty="0"/>
          </a:p>
        </p:txBody>
      </p:sp>
      <p:sp>
        <p:nvSpPr>
          <p:cNvPr id="46" name="Text 43"/>
          <p:cNvSpPr/>
          <p:nvPr/>
        </p:nvSpPr>
        <p:spPr>
          <a:xfrm>
            <a:off x="7401455" y="3668316"/>
            <a:ext cx="103163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Expansão adaptada a </a:t>
            </a:r>
            <a:endParaRPr lang="en-US" sz="732" dirty="0"/>
          </a:p>
        </p:txBody>
      </p:sp>
      <p:sp>
        <p:nvSpPr>
          <p:cNvPr id="47" name="Text 44"/>
          <p:cNvSpPr/>
          <p:nvPr/>
        </p:nvSpPr>
        <p:spPr>
          <a:xfrm>
            <a:off x="7139201" y="3807245"/>
            <a:ext cx="129388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outros mercados europeus.</a:t>
            </a:r>
            <a:endParaRPr lang="en-US" sz="732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49354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28625"/>
            <a:ext cx="828675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052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Conclusão e Próximos Passos: Maximizando o Potencial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428625" y="1057275"/>
            <a:ext cx="4000500" cy="278606"/>
          </a:xfrm>
          <a:prstGeom prst="rect">
            <a:avLst/>
          </a:prstGeom>
          <a:noFill/>
          <a:ln/>
        </p:spPr>
        <p:txBody>
          <a:bodyPr wrap="none" lIns="0" tIns="0" rIns="0" bIns="85090" rtlCol="0" anchor="ctr">
            <a:spAutoFit/>
          </a:bodyPr>
          <a:lstStyle/>
          <a:p>
            <a:pPr marL="0" indent="0">
              <a:buNone/>
            </a:pPr>
            <a:r>
              <a:rPr lang="en-US" sz="942" b="1" dirty="0">
                <a:solidFill>
                  <a:srgbClr val="0052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Resumo dos Principais Achados</a:t>
            </a:r>
            <a:endParaRPr lang="en-US" sz="942" dirty="0"/>
          </a:p>
        </p:txBody>
      </p:sp>
      <p:sp>
        <p:nvSpPr>
          <p:cNvPr id="5" name="Shape 2"/>
          <p:cNvSpPr/>
          <p:nvPr/>
        </p:nvSpPr>
        <p:spPr>
          <a:xfrm>
            <a:off x="428625" y="1478756"/>
            <a:ext cx="4000500" cy="761479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Shape 3"/>
          <p:cNvSpPr/>
          <p:nvPr/>
        </p:nvSpPr>
        <p:spPr>
          <a:xfrm>
            <a:off x="428625" y="1478756"/>
            <a:ext cx="28575" cy="761479"/>
          </a:xfrm>
          <a:prstGeom prst="rect">
            <a:avLst/>
          </a:prstGeom>
          <a:solidFill>
            <a:srgbClr val="1E88E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4"/>
          <p:cNvSpPr/>
          <p:nvPr/>
        </p:nvSpPr>
        <p:spPr>
          <a:xfrm>
            <a:off x="557213" y="1607344"/>
            <a:ext cx="374332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5" b="1" dirty="0">
                <a:solidFill>
                  <a:srgbClr val="0052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Mercado Bem Definido</a:t>
            </a:r>
            <a:endParaRPr lang="en-US" sz="785" dirty="0"/>
          </a:p>
        </p:txBody>
      </p:sp>
      <p:sp>
        <p:nvSpPr>
          <p:cNvPr id="8" name="Text 5"/>
          <p:cNvSpPr/>
          <p:nvPr/>
        </p:nvSpPr>
        <p:spPr>
          <a:xfrm>
            <a:off x="557213" y="1910758"/>
            <a:ext cx="3743325" cy="1046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80" dirty="0">
                <a:latin typeface="Noto Sans" pitchFamily="34" charset="0"/>
                <a:ea typeface="Noto Sans" pitchFamily="34" charset="-122"/>
                <a:cs typeface="Noto Sans" pitchFamily="34" charset="-120"/>
              </a:rPr>
              <a:t>O mercado europeu apresenta um público-alvo claro e bem segmentado para a hCaptcha.</a:t>
            </a:r>
            <a:endParaRPr lang="en-US" sz="680" dirty="0"/>
          </a:p>
        </p:txBody>
      </p:sp>
      <p:sp>
        <p:nvSpPr>
          <p:cNvPr id="9" name="Shape 6"/>
          <p:cNvSpPr/>
          <p:nvPr/>
        </p:nvSpPr>
        <p:spPr>
          <a:xfrm>
            <a:off x="428625" y="2347392"/>
            <a:ext cx="4000500" cy="761479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Shape 7"/>
          <p:cNvSpPr/>
          <p:nvPr/>
        </p:nvSpPr>
        <p:spPr>
          <a:xfrm>
            <a:off x="428625" y="2347392"/>
            <a:ext cx="28575" cy="761479"/>
          </a:xfrm>
          <a:prstGeom prst="rect">
            <a:avLst/>
          </a:prstGeom>
          <a:solidFill>
            <a:srgbClr val="1E88E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8"/>
          <p:cNvSpPr/>
          <p:nvPr/>
        </p:nvSpPr>
        <p:spPr>
          <a:xfrm>
            <a:off x="557213" y="2475979"/>
            <a:ext cx="374332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5" b="1" dirty="0">
                <a:solidFill>
                  <a:srgbClr val="0052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Base de Contatos de Qualidade</a:t>
            </a:r>
            <a:endParaRPr lang="en-US" sz="785" dirty="0"/>
          </a:p>
        </p:txBody>
      </p:sp>
      <p:sp>
        <p:nvSpPr>
          <p:cNvPr id="12" name="Text 9"/>
          <p:cNvSpPr/>
          <p:nvPr/>
        </p:nvSpPr>
        <p:spPr>
          <a:xfrm>
            <a:off x="557213" y="2727071"/>
            <a:ext cx="3743325" cy="209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80" dirty="0">
                <a:latin typeface="Noto Sans" pitchFamily="34" charset="0"/>
                <a:ea typeface="Noto Sans" pitchFamily="34" charset="-122"/>
                <a:cs typeface="Noto Sans" pitchFamily="34" charset="-120"/>
              </a:rPr>
              <a:t>1028 profissionais de empresas europeias com boa taxa de e-mails válidos e forte presença no LinkedIn.</a:t>
            </a:r>
            <a:endParaRPr lang="en-US" sz="680" dirty="0"/>
          </a:p>
        </p:txBody>
      </p:sp>
      <p:sp>
        <p:nvSpPr>
          <p:cNvPr id="13" name="Shape 10"/>
          <p:cNvSpPr/>
          <p:nvPr/>
        </p:nvSpPr>
        <p:spPr>
          <a:xfrm>
            <a:off x="428625" y="3216027"/>
            <a:ext cx="4000500" cy="761479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Shape 11"/>
          <p:cNvSpPr/>
          <p:nvPr/>
        </p:nvSpPr>
        <p:spPr>
          <a:xfrm>
            <a:off x="428625" y="3216027"/>
            <a:ext cx="28575" cy="761479"/>
          </a:xfrm>
          <a:prstGeom prst="rect">
            <a:avLst/>
          </a:prstGeom>
          <a:solidFill>
            <a:srgbClr val="1E88E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2"/>
          <p:cNvSpPr/>
          <p:nvPr/>
        </p:nvSpPr>
        <p:spPr>
          <a:xfrm>
            <a:off x="557213" y="3344614"/>
            <a:ext cx="374332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5" b="1" dirty="0">
                <a:solidFill>
                  <a:srgbClr val="0052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Líderes Técnicos como Alvo</a:t>
            </a:r>
            <a:endParaRPr lang="en-US" sz="785" dirty="0"/>
          </a:p>
        </p:txBody>
      </p:sp>
      <p:sp>
        <p:nvSpPr>
          <p:cNvPr id="16" name="Text 13"/>
          <p:cNvSpPr/>
          <p:nvPr/>
        </p:nvSpPr>
        <p:spPr>
          <a:xfrm>
            <a:off x="557213" y="3595706"/>
            <a:ext cx="3743325" cy="209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80" dirty="0">
                <a:latin typeface="Noto Sans" pitchFamily="34" charset="0"/>
                <a:ea typeface="Noto Sans" pitchFamily="34" charset="-122"/>
                <a:cs typeface="Noto Sans" pitchFamily="34" charset="-120"/>
              </a:rPr>
              <a:t>CTOs e Heads of IT em empresas de grande porte representam o público ideal para posicionamento Enterprise.</a:t>
            </a:r>
            <a:endParaRPr lang="en-US" sz="680" dirty="0"/>
          </a:p>
        </p:txBody>
      </p:sp>
      <p:sp>
        <p:nvSpPr>
          <p:cNvPr id="17" name="Shape 14"/>
          <p:cNvSpPr/>
          <p:nvPr/>
        </p:nvSpPr>
        <p:spPr>
          <a:xfrm>
            <a:off x="428625" y="4084662"/>
            <a:ext cx="4000500" cy="761479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Shape 15"/>
          <p:cNvSpPr/>
          <p:nvPr/>
        </p:nvSpPr>
        <p:spPr>
          <a:xfrm>
            <a:off x="428625" y="4084662"/>
            <a:ext cx="28575" cy="761479"/>
          </a:xfrm>
          <a:prstGeom prst="rect">
            <a:avLst/>
          </a:prstGeom>
          <a:solidFill>
            <a:srgbClr val="1E88E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Text 16"/>
          <p:cNvSpPr/>
          <p:nvPr/>
        </p:nvSpPr>
        <p:spPr>
          <a:xfrm>
            <a:off x="557213" y="4213250"/>
            <a:ext cx="374332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5" b="1" dirty="0">
                <a:solidFill>
                  <a:srgbClr val="0052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Oportunidades Multicanal</a:t>
            </a:r>
            <a:endParaRPr lang="en-US" sz="785" dirty="0"/>
          </a:p>
        </p:txBody>
      </p:sp>
      <p:sp>
        <p:nvSpPr>
          <p:cNvPr id="20" name="Text 17"/>
          <p:cNvSpPr/>
          <p:nvPr/>
        </p:nvSpPr>
        <p:spPr>
          <a:xfrm>
            <a:off x="557213" y="4464342"/>
            <a:ext cx="3743325" cy="209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80" dirty="0">
                <a:latin typeface="Noto Sans" pitchFamily="34" charset="0"/>
                <a:ea typeface="Noto Sans" pitchFamily="34" charset="-122"/>
                <a:cs typeface="Noto Sans" pitchFamily="34" charset="-120"/>
              </a:rPr>
              <a:t>Potencial para campanhas de e-mail marketing e social selling no LinkedIn com abordagens diferenciadas.</a:t>
            </a:r>
            <a:endParaRPr lang="en-US" sz="680" dirty="0"/>
          </a:p>
        </p:txBody>
      </p:sp>
      <p:sp>
        <p:nvSpPr>
          <p:cNvPr id="21" name="Text 18"/>
          <p:cNvSpPr/>
          <p:nvPr/>
        </p:nvSpPr>
        <p:spPr>
          <a:xfrm>
            <a:off x="4714875" y="1057275"/>
            <a:ext cx="4000500" cy="278606"/>
          </a:xfrm>
          <a:prstGeom prst="rect">
            <a:avLst/>
          </a:prstGeom>
          <a:noFill/>
          <a:ln/>
        </p:spPr>
        <p:txBody>
          <a:bodyPr wrap="none" lIns="0" tIns="0" rIns="0" bIns="85090" rtlCol="0" anchor="ctr">
            <a:spAutoFit/>
          </a:bodyPr>
          <a:lstStyle/>
          <a:p>
            <a:pPr marL="0" indent="0">
              <a:buNone/>
            </a:pPr>
            <a:r>
              <a:rPr lang="en-US" sz="942" b="1" dirty="0">
                <a:solidFill>
                  <a:srgbClr val="0052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Próximos Passos Recomendados</a:t>
            </a:r>
            <a:endParaRPr lang="en-US" sz="942" dirty="0"/>
          </a:p>
        </p:txBody>
      </p:sp>
      <p:sp>
        <p:nvSpPr>
          <p:cNvPr id="22" name="Shape 19"/>
          <p:cNvSpPr/>
          <p:nvPr/>
        </p:nvSpPr>
        <p:spPr>
          <a:xfrm>
            <a:off x="4714875" y="1478756"/>
            <a:ext cx="4000500" cy="78938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" name="Shape 20"/>
          <p:cNvSpPr/>
          <p:nvPr/>
        </p:nvSpPr>
        <p:spPr>
          <a:xfrm>
            <a:off x="4714875" y="1478756"/>
            <a:ext cx="28575" cy="789384"/>
          </a:xfrm>
          <a:prstGeom prst="rect">
            <a:avLst/>
          </a:prstGeom>
          <a:solidFill>
            <a:srgbClr val="1E88E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4" name="Shape 21"/>
          <p:cNvSpPr/>
          <p:nvPr/>
        </p:nvSpPr>
        <p:spPr>
          <a:xfrm>
            <a:off x="4843463" y="1607344"/>
            <a:ext cx="228600" cy="228600"/>
          </a:xfrm>
          <a:prstGeom prst="ellipse">
            <a:avLst/>
          </a:prstGeom>
          <a:solidFill>
            <a:srgbClr val="1E88E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5" name="Text 22"/>
          <p:cNvSpPr/>
          <p:nvPr/>
        </p:nvSpPr>
        <p:spPr>
          <a:xfrm>
            <a:off x="4843463" y="1607344"/>
            <a:ext cx="22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785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</a:t>
            </a:r>
            <a:endParaRPr lang="en-US" sz="785" dirty="0"/>
          </a:p>
        </p:txBody>
      </p:sp>
      <p:sp>
        <p:nvSpPr>
          <p:cNvPr id="26" name="Text 23"/>
          <p:cNvSpPr/>
          <p:nvPr/>
        </p:nvSpPr>
        <p:spPr>
          <a:xfrm>
            <a:off x="5108612" y="1637704"/>
            <a:ext cx="3743325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5" b="1" dirty="0">
                <a:solidFill>
                  <a:srgbClr val="0052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Análise Competitiva</a:t>
            </a:r>
            <a:endParaRPr lang="en-US" sz="785" dirty="0"/>
          </a:p>
        </p:txBody>
      </p:sp>
      <p:sp>
        <p:nvSpPr>
          <p:cNvPr id="27" name="Text 24"/>
          <p:cNvSpPr/>
          <p:nvPr/>
        </p:nvSpPr>
        <p:spPr>
          <a:xfrm>
            <a:off x="5157788" y="1895606"/>
            <a:ext cx="3429000" cy="209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80" dirty="0">
                <a:latin typeface="Noto Sans" pitchFamily="34" charset="0"/>
                <a:ea typeface="Noto Sans" pitchFamily="34" charset="-122"/>
                <a:cs typeface="Noto Sans" pitchFamily="34" charset="-120"/>
              </a:rPr>
              <a:t>Pesquisar o ambiente competitivo europeu para entender posicionamento de concorrentes e oportunidades de diferenciação.</a:t>
            </a:r>
            <a:endParaRPr lang="en-US" sz="680" dirty="0"/>
          </a:p>
        </p:txBody>
      </p:sp>
      <p:sp>
        <p:nvSpPr>
          <p:cNvPr id="28" name="Shape 25"/>
          <p:cNvSpPr/>
          <p:nvPr/>
        </p:nvSpPr>
        <p:spPr>
          <a:xfrm>
            <a:off x="4714875" y="2375297"/>
            <a:ext cx="4000500" cy="78938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9" name="Shape 26"/>
          <p:cNvSpPr/>
          <p:nvPr/>
        </p:nvSpPr>
        <p:spPr>
          <a:xfrm>
            <a:off x="4714875" y="2375297"/>
            <a:ext cx="28575" cy="789384"/>
          </a:xfrm>
          <a:prstGeom prst="rect">
            <a:avLst/>
          </a:prstGeom>
          <a:solidFill>
            <a:srgbClr val="1E88E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0" name="Shape 27"/>
          <p:cNvSpPr/>
          <p:nvPr/>
        </p:nvSpPr>
        <p:spPr>
          <a:xfrm>
            <a:off x="4843463" y="2503884"/>
            <a:ext cx="228600" cy="228600"/>
          </a:xfrm>
          <a:prstGeom prst="ellipse">
            <a:avLst/>
          </a:prstGeom>
          <a:solidFill>
            <a:srgbClr val="1E88E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1" name="Text 28"/>
          <p:cNvSpPr/>
          <p:nvPr/>
        </p:nvSpPr>
        <p:spPr>
          <a:xfrm>
            <a:off x="4843463" y="2503884"/>
            <a:ext cx="22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785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</a:t>
            </a:r>
            <a:endParaRPr lang="en-US" sz="785" dirty="0"/>
          </a:p>
        </p:txBody>
      </p:sp>
      <p:sp>
        <p:nvSpPr>
          <p:cNvPr id="32" name="Text 29"/>
          <p:cNvSpPr/>
          <p:nvPr/>
        </p:nvSpPr>
        <p:spPr>
          <a:xfrm>
            <a:off x="5108612" y="2553890"/>
            <a:ext cx="3743325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5" b="1" dirty="0">
                <a:solidFill>
                  <a:srgbClr val="0052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Conformidade Regulatória</a:t>
            </a:r>
            <a:endParaRPr lang="en-US" sz="785" dirty="0"/>
          </a:p>
        </p:txBody>
      </p:sp>
      <p:sp>
        <p:nvSpPr>
          <p:cNvPr id="33" name="Text 30"/>
          <p:cNvSpPr/>
          <p:nvPr/>
        </p:nvSpPr>
        <p:spPr>
          <a:xfrm>
            <a:off x="5157788" y="2773924"/>
            <a:ext cx="859210" cy="1046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80" dirty="0">
                <a:latin typeface="Noto Sans" pitchFamily="34" charset="0"/>
                <a:ea typeface="Noto Sans" pitchFamily="34" charset="-122"/>
                <a:cs typeface="Noto Sans" pitchFamily="34" charset="-120"/>
              </a:rPr>
              <a:t>Avaliar requisitos do </a:t>
            </a:r>
            <a:endParaRPr lang="en-US" sz="680" dirty="0"/>
          </a:p>
        </p:txBody>
      </p:sp>
      <p:sp>
        <p:nvSpPr>
          <p:cNvPr id="34" name="Text 31"/>
          <p:cNvSpPr/>
          <p:nvPr/>
        </p:nvSpPr>
        <p:spPr>
          <a:xfrm>
            <a:off x="6070513" y="2762845"/>
            <a:ext cx="255584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80" b="1" dirty="0">
                <a:solidFill>
                  <a:srgbClr val="0052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GDPR</a:t>
            </a:r>
            <a:endParaRPr lang="en-US" sz="680" dirty="0"/>
          </a:p>
        </p:txBody>
      </p:sp>
      <p:sp>
        <p:nvSpPr>
          <p:cNvPr id="35" name="Text 32"/>
          <p:cNvSpPr/>
          <p:nvPr/>
        </p:nvSpPr>
        <p:spPr>
          <a:xfrm>
            <a:off x="6326098" y="2773924"/>
            <a:ext cx="2035814" cy="1046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80" dirty="0">
                <a:latin typeface="Noto Sans" pitchFamily="34" charset="0"/>
                <a:ea typeface="Noto Sans" pitchFamily="34" charset="-122"/>
                <a:cs typeface="Noto Sans" pitchFamily="34" charset="-120"/>
              </a:rPr>
              <a:t> e outras regulamentações de proteção de dados </a:t>
            </a:r>
            <a:endParaRPr lang="en-US" sz="680" dirty="0"/>
          </a:p>
        </p:txBody>
      </p:sp>
      <p:sp>
        <p:nvSpPr>
          <p:cNvPr id="36" name="Text 33"/>
          <p:cNvSpPr/>
          <p:nvPr/>
        </p:nvSpPr>
        <p:spPr>
          <a:xfrm>
            <a:off x="5157788" y="2913227"/>
            <a:ext cx="1500411" cy="1046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80" dirty="0">
                <a:latin typeface="Noto Sans" pitchFamily="34" charset="0"/>
                <a:ea typeface="Noto Sans" pitchFamily="34" charset="-122"/>
                <a:cs typeface="Noto Sans" pitchFamily="34" charset="-120"/>
              </a:rPr>
              <a:t>na Europa para garantir compliance.</a:t>
            </a:r>
            <a:endParaRPr lang="en-US" sz="680" dirty="0"/>
          </a:p>
        </p:txBody>
      </p:sp>
      <p:sp>
        <p:nvSpPr>
          <p:cNvPr id="37" name="Shape 34"/>
          <p:cNvSpPr/>
          <p:nvPr/>
        </p:nvSpPr>
        <p:spPr>
          <a:xfrm>
            <a:off x="4714875" y="3271838"/>
            <a:ext cx="4000500" cy="78938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8" name="Shape 35"/>
          <p:cNvSpPr/>
          <p:nvPr/>
        </p:nvSpPr>
        <p:spPr>
          <a:xfrm>
            <a:off x="4714875" y="3271838"/>
            <a:ext cx="28575" cy="789384"/>
          </a:xfrm>
          <a:prstGeom prst="rect">
            <a:avLst/>
          </a:prstGeom>
          <a:solidFill>
            <a:srgbClr val="1E88E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9" name="Shape 36"/>
          <p:cNvSpPr/>
          <p:nvPr/>
        </p:nvSpPr>
        <p:spPr>
          <a:xfrm>
            <a:off x="4843463" y="3400425"/>
            <a:ext cx="228600" cy="228600"/>
          </a:xfrm>
          <a:prstGeom prst="ellipse">
            <a:avLst/>
          </a:prstGeom>
          <a:solidFill>
            <a:srgbClr val="1E88E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0" name="Text 37"/>
          <p:cNvSpPr/>
          <p:nvPr/>
        </p:nvSpPr>
        <p:spPr>
          <a:xfrm>
            <a:off x="4843463" y="3400425"/>
            <a:ext cx="22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785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</a:t>
            </a:r>
            <a:endParaRPr lang="en-US" sz="785" dirty="0"/>
          </a:p>
        </p:txBody>
      </p:sp>
      <p:sp>
        <p:nvSpPr>
          <p:cNvPr id="41" name="Text 38"/>
          <p:cNvSpPr/>
          <p:nvPr/>
        </p:nvSpPr>
        <p:spPr>
          <a:xfrm>
            <a:off x="5108612" y="3439716"/>
            <a:ext cx="3743325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5" b="1" dirty="0">
                <a:solidFill>
                  <a:srgbClr val="0052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Maturidade Tecnológica</a:t>
            </a:r>
            <a:endParaRPr lang="en-US" sz="785" dirty="0"/>
          </a:p>
        </p:txBody>
      </p:sp>
      <p:sp>
        <p:nvSpPr>
          <p:cNvPr id="42" name="Text 39"/>
          <p:cNvSpPr/>
          <p:nvPr/>
        </p:nvSpPr>
        <p:spPr>
          <a:xfrm>
            <a:off x="5157788" y="3688687"/>
            <a:ext cx="3429000" cy="209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80" dirty="0">
                <a:latin typeface="Noto Sans" pitchFamily="34" charset="0"/>
                <a:ea typeface="Noto Sans" pitchFamily="34" charset="-122"/>
                <a:cs typeface="Noto Sans" pitchFamily="34" charset="-120"/>
              </a:rPr>
              <a:t>Analisar nível de adoção de tecnologias de segurança por setor e país para priorizar mercados.</a:t>
            </a:r>
            <a:endParaRPr lang="en-US" sz="680" dirty="0"/>
          </a:p>
        </p:txBody>
      </p:sp>
      <p:sp>
        <p:nvSpPr>
          <p:cNvPr id="43" name="Shape 40"/>
          <p:cNvSpPr/>
          <p:nvPr/>
        </p:nvSpPr>
        <p:spPr>
          <a:xfrm>
            <a:off x="4714875" y="4168378"/>
            <a:ext cx="4000500" cy="78938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4" name="Shape 41"/>
          <p:cNvSpPr/>
          <p:nvPr/>
        </p:nvSpPr>
        <p:spPr>
          <a:xfrm>
            <a:off x="4714875" y="4168378"/>
            <a:ext cx="28575" cy="789384"/>
          </a:xfrm>
          <a:prstGeom prst="rect">
            <a:avLst/>
          </a:prstGeom>
          <a:solidFill>
            <a:srgbClr val="1E88E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5" name="Shape 42"/>
          <p:cNvSpPr/>
          <p:nvPr/>
        </p:nvSpPr>
        <p:spPr>
          <a:xfrm>
            <a:off x="4843463" y="4296966"/>
            <a:ext cx="228600" cy="228600"/>
          </a:xfrm>
          <a:prstGeom prst="ellipse">
            <a:avLst/>
          </a:prstGeom>
          <a:solidFill>
            <a:srgbClr val="1E88E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6" name="Text 43"/>
          <p:cNvSpPr/>
          <p:nvPr/>
        </p:nvSpPr>
        <p:spPr>
          <a:xfrm>
            <a:off x="4843463" y="4296966"/>
            <a:ext cx="22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785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</a:t>
            </a:r>
            <a:endParaRPr lang="en-US" sz="785" dirty="0"/>
          </a:p>
        </p:txBody>
      </p:sp>
      <p:sp>
        <p:nvSpPr>
          <p:cNvPr id="47" name="Text 44"/>
          <p:cNvSpPr/>
          <p:nvPr/>
        </p:nvSpPr>
        <p:spPr>
          <a:xfrm>
            <a:off x="5130542" y="4336340"/>
            <a:ext cx="3743325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5" b="1" dirty="0">
                <a:solidFill>
                  <a:srgbClr val="0052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Validação com Mercado</a:t>
            </a:r>
            <a:endParaRPr lang="en-US" sz="785" dirty="0"/>
          </a:p>
        </p:txBody>
      </p:sp>
      <p:sp>
        <p:nvSpPr>
          <p:cNvPr id="48" name="Text 45"/>
          <p:cNvSpPr/>
          <p:nvPr/>
        </p:nvSpPr>
        <p:spPr>
          <a:xfrm>
            <a:off x="5157788" y="4585228"/>
            <a:ext cx="3429000" cy="209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80" dirty="0">
                <a:latin typeface="Noto Sans" pitchFamily="34" charset="0"/>
                <a:ea typeface="Noto Sans" pitchFamily="34" charset="-122"/>
                <a:cs typeface="Noto Sans" pitchFamily="34" charset="-120"/>
              </a:rPr>
              <a:t>Conduzir entrevistas com potenciais clientes para validar hipóteses e refinar estratégia de posicionamento.</a:t>
            </a:r>
            <a:endParaRPr lang="en-US" sz="68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000875" y="3000375"/>
            <a:ext cx="2857500" cy="285750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1"/>
          <p:cNvSpPr/>
          <p:nvPr/>
        </p:nvSpPr>
        <p:spPr>
          <a:xfrm>
            <a:off x="-571500" y="-571500"/>
            <a:ext cx="2143125" cy="2143125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2"/>
          <p:cNvSpPr/>
          <p:nvPr/>
        </p:nvSpPr>
        <p:spPr>
          <a:xfrm>
            <a:off x="3295641" y="671513"/>
            <a:ext cx="2552719" cy="7715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405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Obrigado!</a:t>
            </a:r>
            <a:endParaRPr lang="en-US" sz="4050" dirty="0"/>
          </a:p>
        </p:txBody>
      </p:sp>
      <p:sp>
        <p:nvSpPr>
          <p:cNvPr id="6" name="Text 3"/>
          <p:cNvSpPr/>
          <p:nvPr/>
        </p:nvSpPr>
        <p:spPr>
          <a:xfrm>
            <a:off x="3295641" y="1871663"/>
            <a:ext cx="2552719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>
                    <a:alpha val="95000"/>
                  </a:srgbClr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Germano Silva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3295641" y="2235994"/>
            <a:ext cx="2552719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942" dirty="0">
                <a:solidFill>
                  <a:srgbClr val="FFFFFF">
                    <a:alpha val="90000"/>
                  </a:srgbClr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Prepara Portugal</a:t>
            </a:r>
            <a:endParaRPr lang="en-US" sz="942" dirty="0"/>
          </a:p>
        </p:txBody>
      </p:sp>
      <p:sp>
        <p:nvSpPr>
          <p:cNvPr id="8" name="Text 5"/>
          <p:cNvSpPr/>
          <p:nvPr/>
        </p:nvSpPr>
        <p:spPr>
          <a:xfrm>
            <a:off x="3295641" y="2500313"/>
            <a:ext cx="255271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837" i="1" dirty="0">
                <a:solidFill>
                  <a:srgbClr val="FFFFFF">
                    <a:alpha val="85000"/>
                  </a:srgbClr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Responsável Acadêmico: Professor Pedro Scope</a:t>
            </a:r>
            <a:endParaRPr lang="en-US" sz="837" dirty="0"/>
          </a:p>
        </p:txBody>
      </p:sp>
      <p:sp>
        <p:nvSpPr>
          <p:cNvPr id="9" name="Shape 6"/>
          <p:cNvSpPr/>
          <p:nvPr/>
        </p:nvSpPr>
        <p:spPr>
          <a:xfrm>
            <a:off x="3295641" y="3028950"/>
            <a:ext cx="2552719" cy="671513"/>
          </a:xfrm>
          <a:prstGeom prst="rect">
            <a:avLst/>
          </a:prstGeom>
          <a:solidFill>
            <a:srgbClr val="FFFFFF">
              <a:alpha val="10000"/>
            </a:srgbClr>
          </a:solidFill>
          <a:ln w="198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7"/>
          <p:cNvSpPr/>
          <p:nvPr/>
        </p:nvSpPr>
        <p:spPr>
          <a:xfrm>
            <a:off x="3509953" y="3257550"/>
            <a:ext cx="2124094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046" dirty="0">
                <a:solidFill>
                  <a:srgbClr val="FFFFFF">
                    <a:alpha val="95000"/>
                  </a:srgbClr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Perguntas?</a:t>
            </a:r>
            <a:endParaRPr lang="en-US" sz="1046" dirty="0"/>
          </a:p>
        </p:txBody>
      </p:sp>
      <p:sp>
        <p:nvSpPr>
          <p:cNvPr id="11" name="Text 8"/>
          <p:cNvSpPr/>
          <p:nvPr/>
        </p:nvSpPr>
        <p:spPr>
          <a:xfrm>
            <a:off x="3295641" y="4043363"/>
            <a:ext cx="2552719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732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Exercício 1 - Módulo 2</a:t>
            </a:r>
            <a:endParaRPr lang="en-US" sz="732" dirty="0"/>
          </a:p>
        </p:txBody>
      </p:sp>
      <p:sp>
        <p:nvSpPr>
          <p:cNvPr id="12" name="Text 9"/>
          <p:cNvSpPr/>
          <p:nvPr/>
        </p:nvSpPr>
        <p:spPr>
          <a:xfrm>
            <a:off x="3295641" y="4250531"/>
            <a:ext cx="2552719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732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Análise de Dados para Posicionamento Estratégico</a:t>
            </a:r>
            <a:endParaRPr lang="en-US" sz="732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1138</Words>
  <Application>Microsoft Office PowerPoint</Application>
  <PresentationFormat>Apresentação na tela (16:9)</PresentationFormat>
  <Paragraphs>220</Paragraphs>
  <Slides>10</Slides>
  <Notes>10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3" baseType="lpstr">
      <vt:lpstr>Arial</vt:lpstr>
      <vt:lpstr>Noto Sans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Germano Silva</cp:lastModifiedBy>
  <cp:revision>2</cp:revision>
  <dcterms:created xsi:type="dcterms:W3CDTF">2025-10-21T18:43:46Z</dcterms:created>
  <dcterms:modified xsi:type="dcterms:W3CDTF">2025-10-21T19:14:25Z</dcterms:modified>
</cp:coreProperties>
</file>